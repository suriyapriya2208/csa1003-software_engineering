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8" r:id="rId3"/>
    <p:sldId id="269" r:id="rId4"/>
    <p:sldId id="257" r:id="rId5"/>
    <p:sldId id="259" r:id="rId6"/>
    <p:sldId id="260" r:id="rId7"/>
    <p:sldId id="271" r:id="rId8"/>
    <p:sldId id="263" r:id="rId9"/>
    <p:sldId id="264" r:id="rId10"/>
    <p:sldId id="261" r:id="rId11"/>
    <p:sldId id="265" r:id="rId12"/>
    <p:sldId id="262" r:id="rId13"/>
    <p:sldId id="266"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23750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37160" y="137160"/>
            <a:ext cx="8869680" cy="4869180"/>
          </a:xfrm>
          <a:prstGeom prst="rect">
            <a:avLst/>
          </a:prstGeom>
          <a:ln w="76200">
            <a:solidFill>
              <a:srgbClr val="1F4E9E"/>
            </a:solidFill>
            <a:prstDash val="solid"/>
          </a:ln>
        </p:spPr>
        <p:txBody>
          <a:bodyPr/>
          <a:lstStyle/>
          <a:p>
            <a:endParaRPr lang="en-IN"/>
          </a:p>
        </p:txBody>
      </p:sp>
      <p:sp>
        <p:nvSpPr>
          <p:cNvPr id="4" name="Text 2"/>
          <p:cNvSpPr txBox="1"/>
          <p:nvPr/>
        </p:nvSpPr>
        <p:spPr>
          <a:xfrm>
            <a:off x="822960" y="1741756"/>
            <a:ext cx="7315200" cy="822960"/>
          </a:xfrm>
          <a:prstGeom prst="rect">
            <a:avLst/>
          </a:prstGeom>
          <a:noFill/>
          <a:ln/>
        </p:spPr>
        <p:txBody>
          <a:bodyPr wrap="square" rtlCol="0" anchor="ctr"/>
          <a:lstStyle/>
          <a:p>
            <a:pPr marL="0" indent="0" algn="ctr">
              <a:buNone/>
            </a:pPr>
            <a:r>
              <a:rPr lang="en-US" sz="2200" dirty="0">
                <a:solidFill>
                  <a:srgbClr val="1A1A1A"/>
                </a:solidFill>
                <a:latin typeface="Calibri" pitchFamily="34" charset="0"/>
                <a:ea typeface="Calibri" pitchFamily="34" charset="-122"/>
                <a:cs typeface="Calibri" pitchFamily="34" charset="-120"/>
              </a:rPr>
              <a:t>Intelligent Campus Facilities and Maintenance Management System</a:t>
            </a:r>
            <a:endParaRPr lang="en-US" sz="2200" dirty="0"/>
          </a:p>
        </p:txBody>
      </p:sp>
      <p:sp>
        <p:nvSpPr>
          <p:cNvPr id="6" name="Text 4"/>
          <p:cNvSpPr txBox="1"/>
          <p:nvPr/>
        </p:nvSpPr>
        <p:spPr>
          <a:xfrm>
            <a:off x="2980761" y="2571750"/>
            <a:ext cx="2693963" cy="731520"/>
          </a:xfrm>
          <a:prstGeom prst="rect">
            <a:avLst/>
          </a:prstGeom>
          <a:noFill/>
          <a:ln/>
        </p:spPr>
        <p:txBody>
          <a:bodyPr wrap="square" rtlCol="0" anchor="ctr"/>
          <a:lstStyle/>
          <a:p>
            <a:pPr marL="0" indent="0" algn="ctr">
              <a:buNone/>
            </a:pPr>
            <a:r>
              <a:rPr lang="en-US" sz="1800" b="1" dirty="0">
                <a:solidFill>
                  <a:srgbClr val="1A1A1A"/>
                </a:solidFill>
                <a:latin typeface="Calibri" pitchFamily="34" charset="0"/>
                <a:ea typeface="Calibri" pitchFamily="34" charset="-122"/>
                <a:cs typeface="Calibri" pitchFamily="34" charset="-120"/>
              </a:rPr>
              <a:t>COURSE CODE: CSA1003</a:t>
            </a:r>
            <a:endParaRPr lang="en-US" sz="1800" dirty="0"/>
          </a:p>
          <a:p>
            <a:pPr marL="0" indent="0" algn="ctr">
              <a:buNone/>
            </a:pPr>
            <a:r>
              <a:rPr lang="en-US" sz="1800" b="1" dirty="0">
                <a:solidFill>
                  <a:srgbClr val="1A1A1A"/>
                </a:solidFill>
                <a:latin typeface="Calibri" pitchFamily="34" charset="0"/>
                <a:ea typeface="Calibri" pitchFamily="34" charset="-122"/>
                <a:cs typeface="Calibri" pitchFamily="34" charset="-120"/>
              </a:rPr>
              <a:t>SOFTWARE ENGINEERING</a:t>
            </a:r>
            <a:endParaRPr lang="en-US" sz="1800" dirty="0"/>
          </a:p>
        </p:txBody>
      </p:sp>
      <p:sp>
        <p:nvSpPr>
          <p:cNvPr id="7" name="Text 5"/>
          <p:cNvSpPr txBox="1"/>
          <p:nvPr/>
        </p:nvSpPr>
        <p:spPr>
          <a:xfrm>
            <a:off x="4653419" y="3383280"/>
            <a:ext cx="4064695" cy="1097280"/>
          </a:xfrm>
          <a:prstGeom prst="rect">
            <a:avLst/>
          </a:prstGeom>
          <a:noFill/>
          <a:ln/>
        </p:spPr>
        <p:txBody>
          <a:bodyPr wrap="square" rtlCol="0" anchor="ctr"/>
          <a:lstStyle/>
          <a:p>
            <a:pPr marL="0" indent="0" algn="ctr">
              <a:buNone/>
            </a:pPr>
            <a:r>
              <a:rPr lang="en-US" sz="1800" b="1" dirty="0">
                <a:solidFill>
                  <a:srgbClr val="1A1A1A"/>
                </a:solidFill>
                <a:latin typeface="Calibri" pitchFamily="34" charset="0"/>
                <a:ea typeface="Calibri" pitchFamily="34" charset="-122"/>
                <a:cs typeface="Calibri" pitchFamily="34" charset="-120"/>
              </a:rPr>
              <a:t>PRESENTED BY:</a:t>
            </a:r>
            <a:endParaRPr lang="en-US" sz="1800" dirty="0"/>
          </a:p>
          <a:p>
            <a:pPr marL="0" indent="0" algn="ctr">
              <a:buNone/>
            </a:pPr>
            <a:r>
              <a:rPr lang="en-US" sz="1800" dirty="0">
                <a:solidFill>
                  <a:srgbClr val="1A1A1A"/>
                </a:solidFill>
                <a:latin typeface="Calibri" pitchFamily="34" charset="0"/>
                <a:ea typeface="Calibri" pitchFamily="34" charset="-122"/>
                <a:cs typeface="Calibri" pitchFamily="34" charset="-120"/>
              </a:rPr>
              <a:t>Suriya Priya K</a:t>
            </a:r>
            <a:r>
              <a:rPr lang="en-US" dirty="0"/>
              <a:t>    </a:t>
            </a:r>
            <a:r>
              <a:rPr lang="en-US" sz="1800" dirty="0">
                <a:solidFill>
                  <a:srgbClr val="1A1A1A"/>
                </a:solidFill>
                <a:latin typeface="Calibri" pitchFamily="34" charset="0"/>
                <a:ea typeface="Calibri" pitchFamily="34" charset="-122"/>
                <a:cs typeface="Calibri" pitchFamily="34" charset="-120"/>
              </a:rPr>
              <a:t>(192521195)</a:t>
            </a:r>
          </a:p>
          <a:p>
            <a:pPr marL="0" indent="0" algn="ctr">
              <a:buNone/>
            </a:pPr>
            <a:r>
              <a:rPr lang="en-US" dirty="0">
                <a:solidFill>
                  <a:srgbClr val="1A1A1A"/>
                </a:solidFill>
                <a:latin typeface="Calibri" pitchFamily="34" charset="0"/>
                <a:ea typeface="Calibri" pitchFamily="34" charset="-122"/>
                <a:cs typeface="Calibri" pitchFamily="34" charset="-120"/>
              </a:rPr>
              <a:t>Anjali Oviya U    (192521452)</a:t>
            </a:r>
            <a:endParaRPr lang="en-US" sz="1800" dirty="0"/>
          </a:p>
        </p:txBody>
      </p:sp>
      <p:pic>
        <p:nvPicPr>
          <p:cNvPr id="9" name="Picture 8">
            <a:extLst>
              <a:ext uri="{FF2B5EF4-FFF2-40B4-BE49-F238E27FC236}">
                <a16:creationId xmlns:a16="http://schemas.microsoft.com/office/drawing/2014/main" id="{7BFC18B5-EA9C-2958-50CB-66F0330C70B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82581" y="244307"/>
            <a:ext cx="7647019" cy="1020146"/>
          </a:xfrm>
          <a:prstGeom prst="rect">
            <a:avLst/>
          </a:prstGeom>
          <a:noFill/>
        </p:spPr>
      </p:pic>
      <p:sp>
        <p:nvSpPr>
          <p:cNvPr id="3" name="TextBox 2">
            <a:extLst>
              <a:ext uri="{FF2B5EF4-FFF2-40B4-BE49-F238E27FC236}">
                <a16:creationId xmlns:a16="http://schemas.microsoft.com/office/drawing/2014/main" id="{03330589-7FEE-DA74-AF99-E36014EA09EE}"/>
              </a:ext>
            </a:extLst>
          </p:cNvPr>
          <p:cNvSpPr txBox="1"/>
          <p:nvPr/>
        </p:nvSpPr>
        <p:spPr>
          <a:xfrm>
            <a:off x="707841" y="3608754"/>
            <a:ext cx="2032223" cy="646331"/>
          </a:xfrm>
          <a:prstGeom prst="rect">
            <a:avLst/>
          </a:prstGeom>
          <a:noFill/>
        </p:spPr>
        <p:txBody>
          <a:bodyPr wrap="none" rtlCol="0">
            <a:spAutoFit/>
          </a:bodyPr>
          <a:lstStyle/>
          <a:p>
            <a:r>
              <a:rPr lang="en-US" b="1" dirty="0"/>
              <a:t>GUIDED BY:</a:t>
            </a:r>
          </a:p>
          <a:p>
            <a:r>
              <a:rPr lang="en-US" dirty="0"/>
              <a:t>DR.ARIVUKARASI M</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37160" y="137160"/>
            <a:ext cx="8869680" cy="4869180"/>
          </a:xfrm>
          <a:prstGeom prst="rect">
            <a:avLst/>
          </a:prstGeom>
          <a:ln w="76200">
            <a:solidFill>
              <a:srgbClr val="1F4E9E"/>
            </a:solidFill>
            <a:prstDash val="solid"/>
          </a:ln>
        </p:spPr>
        <p:txBody>
          <a:bodyPr/>
          <a:lstStyle/>
          <a:p>
            <a:endParaRPr lang="en-IN"/>
          </a:p>
        </p:txBody>
      </p:sp>
      <p:sp>
        <p:nvSpPr>
          <p:cNvPr id="3" name="Text 1"/>
          <p:cNvSpPr txBox="1"/>
          <p:nvPr/>
        </p:nvSpPr>
        <p:spPr>
          <a:xfrm>
            <a:off x="457200" y="1325880"/>
            <a:ext cx="8229600" cy="594360"/>
          </a:xfrm>
          <a:prstGeom prst="rect">
            <a:avLst/>
          </a:prstGeom>
          <a:noFill/>
          <a:ln/>
        </p:spPr>
        <p:txBody>
          <a:bodyPr wrap="square" lIns="0" tIns="0" rIns="0" bIns="0" rtlCol="0" anchor="ctr"/>
          <a:lstStyle/>
          <a:p>
            <a:pPr marL="0" indent="0" algn="ctr">
              <a:buNone/>
            </a:pPr>
            <a:r>
              <a:rPr lang="en-US" sz="2800" b="1" dirty="0">
                <a:solidFill>
                  <a:srgbClr val="1F4E9E"/>
                </a:solidFill>
                <a:latin typeface="Calibri" pitchFamily="34" charset="0"/>
                <a:ea typeface="Calibri" pitchFamily="34" charset="-122"/>
                <a:cs typeface="Calibri" pitchFamily="34" charset="-120"/>
              </a:rPr>
              <a:t>Abstract</a:t>
            </a:r>
            <a:endParaRPr lang="en-US" sz="2800" dirty="0"/>
          </a:p>
        </p:txBody>
      </p:sp>
      <p:sp>
        <p:nvSpPr>
          <p:cNvPr id="5" name="Text 3"/>
          <p:cNvSpPr txBox="1"/>
          <p:nvPr/>
        </p:nvSpPr>
        <p:spPr>
          <a:xfrm>
            <a:off x="382730" y="2126859"/>
            <a:ext cx="8501018" cy="1964202"/>
          </a:xfrm>
          <a:prstGeom prst="rect">
            <a:avLst/>
          </a:prstGeom>
          <a:noFill/>
          <a:ln/>
        </p:spPr>
        <p:txBody>
          <a:bodyPr wrap="square" lIns="0" tIns="0" rIns="0" bIns="0" rtlCol="0" anchor="t"/>
          <a:lstStyle/>
          <a:p>
            <a:pPr algn="just">
              <a:spcAft>
                <a:spcPts val="1800"/>
              </a:spcAft>
            </a:pPr>
            <a:r>
              <a:rPr lang="en-IN" dirty="0"/>
              <a:t>CampusCare is a centralized web-based platform designed to simplify campus maintenance management. It allows students to report maintenance issues, track their requests, and receive status updates. Technicians can manage and resolve assigned issues, while administrators can monitor the complete maintenance process through a centralized system. The platform also uses priority scoring to help identify urgent issues and reduce delays in resolution.</a:t>
            </a:r>
          </a:p>
          <a:p>
            <a:pPr marL="0" indent="0">
              <a:spcAft>
                <a:spcPts val="1800"/>
              </a:spcAft>
              <a:buNone/>
            </a:pPr>
            <a:endParaRPr lang="en-US" sz="2200" dirty="0"/>
          </a:p>
        </p:txBody>
      </p:sp>
      <p:pic>
        <p:nvPicPr>
          <p:cNvPr id="7" name="Picture 6">
            <a:extLst>
              <a:ext uri="{FF2B5EF4-FFF2-40B4-BE49-F238E27FC236}">
                <a16:creationId xmlns:a16="http://schemas.microsoft.com/office/drawing/2014/main" id="{76A418D8-9EF7-9440-FF8F-0884F42D04D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82581" y="244307"/>
            <a:ext cx="7647019" cy="1020146"/>
          </a:xfrm>
          <a:prstGeom prst="rect">
            <a:avLst/>
          </a:prstGeom>
          <a:noFill/>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07D86B69-8D8E-6F71-F8DB-5A03DCEBF85B}"/>
              </a:ext>
            </a:extLst>
          </p:cNvPr>
          <p:cNvSpPr/>
          <p:nvPr/>
        </p:nvSpPr>
        <p:spPr>
          <a:xfrm>
            <a:off x="137160" y="137160"/>
            <a:ext cx="8869680" cy="4869180"/>
          </a:xfrm>
          <a:prstGeom prst="rect">
            <a:avLst/>
          </a:prstGeom>
          <a:ln w="76200">
            <a:solidFill>
              <a:srgbClr val="1F4E9E"/>
            </a:solidFill>
            <a:prstDash val="solid"/>
          </a:ln>
        </p:spPr>
        <p:txBody>
          <a:bodyPr/>
          <a:lstStyle/>
          <a:p>
            <a:endParaRPr lang="en-IN"/>
          </a:p>
        </p:txBody>
      </p:sp>
      <p:pic>
        <p:nvPicPr>
          <p:cNvPr id="3" name="Picture 2">
            <a:extLst>
              <a:ext uri="{FF2B5EF4-FFF2-40B4-BE49-F238E27FC236}">
                <a16:creationId xmlns:a16="http://schemas.microsoft.com/office/drawing/2014/main" id="{217A7A70-B401-F664-1530-C1EEFB1ECDF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82581" y="244307"/>
            <a:ext cx="7647019" cy="1020146"/>
          </a:xfrm>
          <a:prstGeom prst="rect">
            <a:avLst/>
          </a:prstGeom>
          <a:noFill/>
        </p:spPr>
      </p:pic>
      <p:sp>
        <p:nvSpPr>
          <p:cNvPr id="6" name="Text 1">
            <a:extLst>
              <a:ext uri="{FF2B5EF4-FFF2-40B4-BE49-F238E27FC236}">
                <a16:creationId xmlns:a16="http://schemas.microsoft.com/office/drawing/2014/main" id="{FC00C047-3D21-9C0C-D0B8-6DFF2B10B573}"/>
              </a:ext>
            </a:extLst>
          </p:cNvPr>
          <p:cNvSpPr txBox="1"/>
          <p:nvPr/>
        </p:nvSpPr>
        <p:spPr>
          <a:xfrm>
            <a:off x="457200" y="1325880"/>
            <a:ext cx="8229600" cy="594360"/>
          </a:xfrm>
          <a:prstGeom prst="rect">
            <a:avLst/>
          </a:prstGeom>
          <a:noFill/>
          <a:ln/>
        </p:spPr>
        <p:txBody>
          <a:bodyPr wrap="square" lIns="0" tIns="0" rIns="0" bIns="0" rtlCol="0" anchor="ctr"/>
          <a:lstStyle/>
          <a:p>
            <a:pPr marL="0" indent="0">
              <a:buNone/>
            </a:pPr>
            <a:r>
              <a:rPr lang="en-US" sz="2800" b="1" dirty="0">
                <a:solidFill>
                  <a:srgbClr val="1F4E9E"/>
                </a:solidFill>
                <a:latin typeface="Calibri" pitchFamily="34" charset="0"/>
                <a:ea typeface="Calibri" pitchFamily="34" charset="-122"/>
                <a:cs typeface="Calibri" pitchFamily="34" charset="-120"/>
              </a:rPr>
              <a:t>INTRODUCTION </a:t>
            </a:r>
            <a:endParaRPr lang="en-US" sz="2800" dirty="0"/>
          </a:p>
        </p:txBody>
      </p:sp>
      <p:sp>
        <p:nvSpPr>
          <p:cNvPr id="7" name="TextBox 6">
            <a:extLst>
              <a:ext uri="{FF2B5EF4-FFF2-40B4-BE49-F238E27FC236}">
                <a16:creationId xmlns:a16="http://schemas.microsoft.com/office/drawing/2014/main" id="{1A767B5C-8B82-49B2-0C3B-58E42BCB36E8}"/>
              </a:ext>
            </a:extLst>
          </p:cNvPr>
          <p:cNvSpPr txBox="1"/>
          <p:nvPr/>
        </p:nvSpPr>
        <p:spPr>
          <a:xfrm>
            <a:off x="457200" y="1977923"/>
            <a:ext cx="8104219" cy="2862322"/>
          </a:xfrm>
          <a:prstGeom prst="rect">
            <a:avLst/>
          </a:prstGeom>
          <a:noFill/>
        </p:spPr>
        <p:txBody>
          <a:bodyPr wrap="square" rtlCol="0">
            <a:spAutoFit/>
          </a:bodyPr>
          <a:lstStyle/>
          <a:p>
            <a:pPr marL="285750" indent="-285750" algn="just">
              <a:buFont typeface="Arial" panose="020B0604020202020204" pitchFamily="34" charset="0"/>
              <a:buChar char="•"/>
            </a:pPr>
            <a:r>
              <a:rPr lang="en-US" dirty="0" err="1"/>
              <a:t>CampusCare</a:t>
            </a:r>
            <a:r>
              <a:rPr lang="en-US" dirty="0"/>
              <a:t> is a centralized web-based campus facilities and maintenance management system.</a:t>
            </a:r>
          </a:p>
          <a:p>
            <a:pPr marL="285750" indent="-285750" algn="just">
              <a:buFont typeface="Arial" panose="020B0604020202020204" pitchFamily="34" charset="0"/>
              <a:buChar char="•"/>
            </a:pPr>
            <a:r>
              <a:rPr lang="en-US" dirty="0"/>
              <a:t>It helps students report maintenance issues such as water leakage, broken furniture, and electrical problems.</a:t>
            </a:r>
          </a:p>
          <a:p>
            <a:pPr marL="285750" indent="-285750" algn="just">
              <a:buFont typeface="Arial" panose="020B0604020202020204" pitchFamily="34" charset="0"/>
              <a:buChar char="•"/>
            </a:pPr>
            <a:r>
              <a:rPr lang="en-US" dirty="0"/>
              <a:t>It uses priority scoring to identify urgent maintenance issues.</a:t>
            </a:r>
          </a:p>
          <a:p>
            <a:pPr marL="285750" indent="-285750" algn="just">
              <a:buFont typeface="Arial" panose="020B0604020202020204" pitchFamily="34" charset="0"/>
              <a:buChar char="•"/>
            </a:pPr>
            <a:r>
              <a:rPr lang="en-US" dirty="0"/>
              <a:t>Tools Used: HTML, CSS, and JavaScript are used for frontend development, Python Flask for backend operations, SQLite for database management, and VS Code for coding and testing</a:t>
            </a:r>
          </a:p>
          <a:p>
            <a:pPr marL="285750" indent="-285750" algn="just">
              <a:buFont typeface="Arial" panose="020B0604020202020204" pitchFamily="34" charset="0"/>
              <a:buChar char="•"/>
            </a:pPr>
            <a:r>
              <a:rPr lang="en-US" dirty="0"/>
              <a:t>Priority-Based Scoring Algorithm is used to calculate the priority of maintenance requests and identify urgent issues for faster resolution</a:t>
            </a:r>
            <a:endParaRPr lang="en-IN" dirty="0"/>
          </a:p>
        </p:txBody>
      </p:sp>
    </p:spTree>
    <p:extLst>
      <p:ext uri="{BB962C8B-B14F-4D97-AF65-F5344CB8AC3E}">
        <p14:creationId xmlns:p14="http://schemas.microsoft.com/office/powerpoint/2010/main" val="7385386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37160" y="137160"/>
            <a:ext cx="8869680" cy="4869180"/>
          </a:xfrm>
          <a:prstGeom prst="rect">
            <a:avLst/>
          </a:prstGeom>
          <a:ln w="76200">
            <a:solidFill>
              <a:srgbClr val="1F4E9E"/>
            </a:solidFill>
            <a:prstDash val="solid"/>
          </a:ln>
        </p:spPr>
        <p:txBody>
          <a:bodyPr/>
          <a:lstStyle/>
          <a:p>
            <a:endParaRPr lang="en-IN"/>
          </a:p>
        </p:txBody>
      </p:sp>
      <p:sp>
        <p:nvSpPr>
          <p:cNvPr id="3" name="Text 1"/>
          <p:cNvSpPr txBox="1"/>
          <p:nvPr/>
        </p:nvSpPr>
        <p:spPr>
          <a:xfrm>
            <a:off x="617220" y="1371600"/>
            <a:ext cx="8229600" cy="594360"/>
          </a:xfrm>
          <a:prstGeom prst="rect">
            <a:avLst/>
          </a:prstGeom>
          <a:noFill/>
          <a:ln/>
        </p:spPr>
        <p:txBody>
          <a:bodyPr wrap="square" lIns="0" tIns="0" rIns="0" bIns="0" rtlCol="0" anchor="ctr"/>
          <a:lstStyle/>
          <a:p>
            <a:pPr marL="0" indent="0">
              <a:buNone/>
            </a:pPr>
            <a:r>
              <a:rPr lang="en-US" sz="2800" b="1" dirty="0">
                <a:solidFill>
                  <a:srgbClr val="1F4E9E"/>
                </a:solidFill>
                <a:latin typeface="Calibri" pitchFamily="34" charset="0"/>
                <a:ea typeface="Calibri" pitchFamily="34" charset="-122"/>
                <a:cs typeface="Calibri" pitchFamily="34" charset="-120"/>
              </a:rPr>
              <a:t>Problem Statement</a:t>
            </a:r>
            <a:endParaRPr lang="en-US" sz="2800" dirty="0"/>
          </a:p>
        </p:txBody>
      </p:sp>
      <p:sp>
        <p:nvSpPr>
          <p:cNvPr id="5" name="Text 3"/>
          <p:cNvSpPr txBox="1"/>
          <p:nvPr/>
        </p:nvSpPr>
        <p:spPr>
          <a:xfrm>
            <a:off x="372794" y="2073107"/>
            <a:ext cx="8046720" cy="3474720"/>
          </a:xfrm>
          <a:prstGeom prst="rect">
            <a:avLst/>
          </a:prstGeom>
          <a:noFill/>
          <a:ln/>
        </p:spPr>
        <p:txBody>
          <a:bodyPr wrap="square" lIns="0" tIns="0" rIns="0" bIns="0" rtlCol="0" anchor="t"/>
          <a:lstStyle/>
          <a:p>
            <a:pPr marL="342900" indent="-342900">
              <a:spcAft>
                <a:spcPts val="1800"/>
              </a:spcAft>
              <a:buSzPct val="100000"/>
              <a:buChar char="•"/>
            </a:pPr>
            <a:r>
              <a:rPr lang="en-US" sz="2200" dirty="0">
                <a:solidFill>
                  <a:srgbClr val="1A1A1A"/>
                </a:solidFill>
                <a:latin typeface="Calibri" pitchFamily="34" charset="0"/>
                <a:ea typeface="Calibri" pitchFamily="34" charset="-122"/>
                <a:cs typeface="Calibri" pitchFamily="34" charset="-120"/>
              </a:rPr>
              <a:t>Campus maintenance complaints are scattered across different channels, making them difficult to track.</a:t>
            </a:r>
            <a:endParaRPr lang="en-US" sz="2200" dirty="0"/>
          </a:p>
          <a:p>
            <a:pPr marL="342900" indent="-342900">
              <a:spcAft>
                <a:spcPts val="1800"/>
              </a:spcAft>
              <a:buSzPct val="100000"/>
              <a:buChar char="•"/>
            </a:pPr>
            <a:r>
              <a:rPr lang="en-US" sz="2200" dirty="0">
                <a:solidFill>
                  <a:srgbClr val="1A1A1A"/>
                </a:solidFill>
                <a:latin typeface="Calibri" pitchFamily="34" charset="0"/>
                <a:ea typeface="Calibri" pitchFamily="34" charset="-122"/>
                <a:cs typeface="Calibri" pitchFamily="34" charset="-120"/>
              </a:rPr>
              <a:t>Delayed priority decisions and status updates can slow down maintenance issue resolution.</a:t>
            </a:r>
            <a:endParaRPr lang="en-US" sz="2200" dirty="0"/>
          </a:p>
        </p:txBody>
      </p:sp>
      <p:pic>
        <p:nvPicPr>
          <p:cNvPr id="7" name="Picture 6">
            <a:extLst>
              <a:ext uri="{FF2B5EF4-FFF2-40B4-BE49-F238E27FC236}">
                <a16:creationId xmlns:a16="http://schemas.microsoft.com/office/drawing/2014/main" id="{8C6179BE-FF62-9D27-5BEA-CD7FDBCDC19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72644" y="244307"/>
            <a:ext cx="7647019" cy="1020146"/>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37160" y="137160"/>
            <a:ext cx="8869680" cy="4869180"/>
          </a:xfrm>
          <a:prstGeom prst="rect">
            <a:avLst/>
          </a:prstGeom>
          <a:ln w="76200">
            <a:solidFill>
              <a:srgbClr val="1F4E9E"/>
            </a:solidFill>
            <a:prstDash val="solid"/>
          </a:ln>
        </p:spPr>
        <p:txBody>
          <a:bodyPr/>
          <a:lstStyle/>
          <a:p>
            <a:endParaRPr lang="en-IN"/>
          </a:p>
        </p:txBody>
      </p:sp>
      <p:pic>
        <p:nvPicPr>
          <p:cNvPr id="8" name="Picture 7">
            <a:extLst>
              <a:ext uri="{FF2B5EF4-FFF2-40B4-BE49-F238E27FC236}">
                <a16:creationId xmlns:a16="http://schemas.microsoft.com/office/drawing/2014/main" id="{7813B9BC-13EF-6BB0-D965-B43384223E4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82581" y="244307"/>
            <a:ext cx="7647019" cy="1020146"/>
          </a:xfrm>
          <a:prstGeom prst="rect">
            <a:avLst/>
          </a:prstGeom>
          <a:noFill/>
        </p:spPr>
      </p:pic>
      <p:pic>
        <p:nvPicPr>
          <p:cNvPr id="9" name="Picture 8">
            <a:extLst>
              <a:ext uri="{FF2B5EF4-FFF2-40B4-BE49-F238E27FC236}">
                <a16:creationId xmlns:a16="http://schemas.microsoft.com/office/drawing/2014/main" id="{3E904C0C-CD5A-42F6-F2E0-1D6014E6E268}"/>
              </a:ext>
            </a:extLst>
          </p:cNvPr>
          <p:cNvPicPr>
            <a:picLocks noChangeAspect="1"/>
          </p:cNvPicPr>
          <p:nvPr/>
        </p:nvPicPr>
        <p:blipFill>
          <a:blip r:embed="rId4"/>
          <a:stretch>
            <a:fillRect/>
          </a:stretch>
        </p:blipFill>
        <p:spPr>
          <a:xfrm>
            <a:off x="419501" y="1571320"/>
            <a:ext cx="8141918" cy="338827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37160" y="137160"/>
            <a:ext cx="8869680" cy="4869180"/>
          </a:xfrm>
          <a:prstGeom prst="rect">
            <a:avLst/>
          </a:prstGeom>
          <a:ln w="76200">
            <a:solidFill>
              <a:srgbClr val="1F4E9E"/>
            </a:solidFill>
            <a:prstDash val="solid"/>
          </a:ln>
        </p:spPr>
        <p:txBody>
          <a:bodyPr/>
          <a:lstStyle/>
          <a:p>
            <a:endParaRPr lang="en-IN"/>
          </a:p>
        </p:txBody>
      </p:sp>
      <p:sp>
        <p:nvSpPr>
          <p:cNvPr id="3" name="Text 1"/>
          <p:cNvSpPr txBox="1"/>
          <p:nvPr/>
        </p:nvSpPr>
        <p:spPr>
          <a:xfrm>
            <a:off x="640080" y="1616026"/>
            <a:ext cx="8229600" cy="594360"/>
          </a:xfrm>
          <a:prstGeom prst="rect">
            <a:avLst/>
          </a:prstGeom>
          <a:noFill/>
          <a:ln/>
        </p:spPr>
        <p:txBody>
          <a:bodyPr wrap="square" lIns="0" tIns="0" rIns="0" bIns="0" rtlCol="0" anchor="ctr"/>
          <a:lstStyle/>
          <a:p>
            <a:pPr marL="0" indent="0">
              <a:buNone/>
            </a:pPr>
            <a:r>
              <a:rPr lang="en-US" sz="2800" b="1" dirty="0">
                <a:solidFill>
                  <a:srgbClr val="1F4E9E"/>
                </a:solidFill>
                <a:latin typeface="Calibri" pitchFamily="34" charset="0"/>
                <a:ea typeface="Calibri" pitchFamily="34" charset="-122"/>
                <a:cs typeface="Calibri" pitchFamily="34" charset="-120"/>
              </a:rPr>
              <a:t>Objective</a:t>
            </a:r>
            <a:endParaRPr lang="en-US" sz="2800" dirty="0"/>
          </a:p>
        </p:txBody>
      </p:sp>
      <p:sp>
        <p:nvSpPr>
          <p:cNvPr id="5" name="Text 3"/>
          <p:cNvSpPr txBox="1"/>
          <p:nvPr/>
        </p:nvSpPr>
        <p:spPr>
          <a:xfrm>
            <a:off x="548640" y="2412609"/>
            <a:ext cx="8046720" cy="2004646"/>
          </a:xfrm>
          <a:prstGeom prst="rect">
            <a:avLst/>
          </a:prstGeom>
          <a:noFill/>
          <a:ln/>
        </p:spPr>
        <p:txBody>
          <a:bodyPr wrap="square" lIns="0" tIns="0" rIns="0" bIns="0" rtlCol="0" anchor="t"/>
          <a:lstStyle/>
          <a:p>
            <a:pPr>
              <a:spcAft>
                <a:spcPts val="1800"/>
              </a:spcAft>
              <a:buSzPct val="100000"/>
            </a:pPr>
            <a:r>
              <a:rPr lang="en-US" sz="2200" dirty="0">
                <a:solidFill>
                  <a:srgbClr val="1A1A1A"/>
                </a:solidFill>
                <a:latin typeface="Calibri" pitchFamily="34" charset="0"/>
                <a:ea typeface="Calibri" pitchFamily="34" charset="-122"/>
                <a:cs typeface="Calibri" pitchFamily="34" charset="-120"/>
              </a:rPr>
              <a:t>To centralize maintenance reporting and tracking through a single campus platform and to improve priority management and reduce delays in maintenance issue resolution.</a:t>
            </a:r>
            <a:endParaRPr lang="en-US" sz="2200" dirty="0"/>
          </a:p>
        </p:txBody>
      </p:sp>
      <p:pic>
        <p:nvPicPr>
          <p:cNvPr id="7" name="Picture 6">
            <a:extLst>
              <a:ext uri="{FF2B5EF4-FFF2-40B4-BE49-F238E27FC236}">
                <a16:creationId xmlns:a16="http://schemas.microsoft.com/office/drawing/2014/main" id="{10A86E4B-CB0F-E150-2259-E9A0350B9BA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82581" y="244307"/>
            <a:ext cx="7647019" cy="1020146"/>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B305873-D7D8-1200-4BDB-7E7591850F2B}"/>
              </a:ext>
            </a:extLst>
          </p:cNvPr>
          <p:cNvPicPr>
            <a:picLocks noChangeAspect="1"/>
          </p:cNvPicPr>
          <p:nvPr/>
        </p:nvPicPr>
        <p:blipFill>
          <a:blip r:embed="rId2"/>
          <a:stretch>
            <a:fillRect/>
          </a:stretch>
        </p:blipFill>
        <p:spPr>
          <a:xfrm>
            <a:off x="126608" y="0"/>
            <a:ext cx="8757139" cy="5143500"/>
          </a:xfrm>
          <a:prstGeom prst="rect">
            <a:avLst/>
          </a:prstGeom>
        </p:spPr>
      </p:pic>
    </p:spTree>
    <p:extLst>
      <p:ext uri="{BB962C8B-B14F-4D97-AF65-F5344CB8AC3E}">
        <p14:creationId xmlns:p14="http://schemas.microsoft.com/office/powerpoint/2010/main" val="38773314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37160" y="137160"/>
            <a:ext cx="8869680" cy="4869180"/>
          </a:xfrm>
          <a:prstGeom prst="rect">
            <a:avLst/>
          </a:prstGeom>
          <a:ln w="76200">
            <a:solidFill>
              <a:srgbClr val="1F4E9E"/>
            </a:solidFill>
            <a:prstDash val="solid"/>
          </a:ln>
        </p:spPr>
        <p:txBody>
          <a:bodyPr/>
          <a:lstStyle/>
          <a:p>
            <a:endParaRPr lang="en-IN"/>
          </a:p>
        </p:txBody>
      </p:sp>
      <p:sp>
        <p:nvSpPr>
          <p:cNvPr id="3" name="Text 1"/>
          <p:cNvSpPr txBox="1"/>
          <p:nvPr/>
        </p:nvSpPr>
        <p:spPr>
          <a:xfrm>
            <a:off x="548640" y="1310053"/>
            <a:ext cx="8229600" cy="594360"/>
          </a:xfrm>
          <a:prstGeom prst="rect">
            <a:avLst/>
          </a:prstGeom>
          <a:noFill/>
          <a:ln/>
        </p:spPr>
        <p:txBody>
          <a:bodyPr wrap="square" lIns="0" tIns="0" rIns="0" bIns="0" rtlCol="0" anchor="ctr"/>
          <a:lstStyle/>
          <a:p>
            <a:pPr marL="0" indent="0">
              <a:buNone/>
            </a:pPr>
            <a:r>
              <a:rPr lang="en-US" sz="2800" b="1" dirty="0">
                <a:solidFill>
                  <a:srgbClr val="1F4E9E"/>
                </a:solidFill>
                <a:latin typeface="Calibri" pitchFamily="34" charset="0"/>
                <a:ea typeface="Calibri" pitchFamily="34" charset="-122"/>
                <a:cs typeface="Calibri" pitchFamily="34" charset="-120"/>
              </a:rPr>
              <a:t>Module 1: Student Request &amp; Tracking</a:t>
            </a:r>
            <a:endParaRPr lang="en-US" sz="2800" dirty="0"/>
          </a:p>
        </p:txBody>
      </p:sp>
      <p:sp>
        <p:nvSpPr>
          <p:cNvPr id="5" name="Text 3"/>
          <p:cNvSpPr txBox="1"/>
          <p:nvPr/>
        </p:nvSpPr>
        <p:spPr>
          <a:xfrm>
            <a:off x="548640" y="1906172"/>
            <a:ext cx="6724357" cy="2848707"/>
          </a:xfrm>
          <a:prstGeom prst="rect">
            <a:avLst/>
          </a:prstGeom>
          <a:noFill/>
          <a:ln/>
        </p:spPr>
        <p:txBody>
          <a:bodyPr wrap="square" lIns="0" tIns="0" rIns="0" bIns="0" rtlCol="0" anchor="t"/>
          <a:lstStyle/>
          <a:p>
            <a:pPr marL="342900" indent="-342900" algn="just">
              <a:spcAft>
                <a:spcPts val="1000"/>
              </a:spcAft>
              <a:buSzPct val="100000"/>
              <a:buChar char="•"/>
            </a:pPr>
            <a:r>
              <a:rPr lang="en-US" sz="1700" dirty="0">
                <a:solidFill>
                  <a:srgbClr val="1A1A1A"/>
                </a:solidFill>
                <a:latin typeface="Calibri" pitchFamily="34" charset="0"/>
                <a:ea typeface="Calibri" pitchFamily="34" charset="-122"/>
                <a:cs typeface="Calibri" pitchFamily="34" charset="-120"/>
              </a:rPr>
              <a:t>Students can submit maintenance requests through their personal dashboard.</a:t>
            </a:r>
            <a:endParaRPr lang="en-US" sz="1700" dirty="0"/>
          </a:p>
          <a:p>
            <a:pPr marL="342900" indent="-342900" algn="just">
              <a:spcAft>
                <a:spcPts val="1000"/>
              </a:spcAft>
              <a:buSzPct val="100000"/>
              <a:buChar char="•"/>
            </a:pPr>
            <a:r>
              <a:rPr lang="en-US" sz="1700" dirty="0">
                <a:solidFill>
                  <a:srgbClr val="1A1A1A"/>
                </a:solidFill>
                <a:latin typeface="Calibri" pitchFamily="34" charset="0"/>
                <a:ea typeface="Calibri" pitchFamily="34" charset="-122"/>
                <a:cs typeface="Calibri" pitchFamily="34" charset="-120"/>
              </a:rPr>
              <a:t>Each request receives a unique identification number for tracking.</a:t>
            </a:r>
            <a:endParaRPr lang="en-US" sz="1700" dirty="0"/>
          </a:p>
          <a:p>
            <a:pPr marL="342900" indent="-342900" algn="just">
              <a:spcAft>
                <a:spcPts val="1000"/>
              </a:spcAft>
              <a:buSzPct val="100000"/>
              <a:buChar char="•"/>
            </a:pPr>
            <a:r>
              <a:rPr lang="en-US" sz="1700" dirty="0">
                <a:solidFill>
                  <a:srgbClr val="1A1A1A"/>
                </a:solidFill>
                <a:latin typeface="Calibri" pitchFamily="34" charset="0"/>
                <a:ea typeface="Calibri" pitchFamily="34" charset="-122"/>
                <a:cs typeface="Calibri" pitchFamily="34" charset="-120"/>
              </a:rPr>
              <a:t>Students can view current status and request activity updates.</a:t>
            </a:r>
            <a:endParaRPr lang="en-US" sz="1700" dirty="0"/>
          </a:p>
          <a:p>
            <a:pPr marL="342900" indent="-342900" algn="just">
              <a:spcAft>
                <a:spcPts val="1000"/>
              </a:spcAft>
              <a:buSzPct val="100000"/>
              <a:buChar char="•"/>
            </a:pPr>
            <a:r>
              <a:rPr lang="en-US" sz="1700" dirty="0">
                <a:solidFill>
                  <a:srgbClr val="1A1A1A"/>
                </a:solidFill>
                <a:latin typeface="Calibri" pitchFamily="34" charset="0"/>
                <a:ea typeface="Calibri" pitchFamily="34" charset="-122"/>
                <a:cs typeface="Calibri" pitchFamily="34" charset="-120"/>
              </a:rPr>
              <a:t>Request details include category, location, description and priority information.</a:t>
            </a:r>
            <a:endParaRPr lang="en-US" sz="1700" dirty="0"/>
          </a:p>
        </p:txBody>
      </p:sp>
      <p:pic>
        <p:nvPicPr>
          <p:cNvPr id="17" name="Picture 16">
            <a:extLst>
              <a:ext uri="{FF2B5EF4-FFF2-40B4-BE49-F238E27FC236}">
                <a16:creationId xmlns:a16="http://schemas.microsoft.com/office/drawing/2014/main" id="{FF4D7B1E-2350-16F5-E387-63D0059602B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82581" y="244307"/>
            <a:ext cx="7647019" cy="1020146"/>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37160" y="137160"/>
            <a:ext cx="8869680" cy="4869180"/>
          </a:xfrm>
          <a:prstGeom prst="rect">
            <a:avLst/>
          </a:prstGeom>
          <a:ln w="76200">
            <a:solidFill>
              <a:srgbClr val="1F4E9E"/>
            </a:solidFill>
            <a:prstDash val="solid"/>
          </a:ln>
        </p:spPr>
        <p:txBody>
          <a:bodyPr/>
          <a:lstStyle/>
          <a:p>
            <a:endParaRPr lang="en-IN"/>
          </a:p>
        </p:txBody>
      </p:sp>
      <p:sp>
        <p:nvSpPr>
          <p:cNvPr id="3" name="Text 1"/>
          <p:cNvSpPr txBox="1"/>
          <p:nvPr/>
        </p:nvSpPr>
        <p:spPr>
          <a:xfrm>
            <a:off x="548640" y="1241474"/>
            <a:ext cx="8229600" cy="594360"/>
          </a:xfrm>
          <a:prstGeom prst="rect">
            <a:avLst/>
          </a:prstGeom>
          <a:noFill/>
          <a:ln/>
        </p:spPr>
        <p:txBody>
          <a:bodyPr wrap="square" lIns="0" tIns="0" rIns="0" bIns="0" rtlCol="0" anchor="ctr"/>
          <a:lstStyle/>
          <a:p>
            <a:pPr marL="0" indent="0">
              <a:buNone/>
            </a:pPr>
            <a:r>
              <a:rPr lang="en-US" sz="2800" b="1" dirty="0">
                <a:solidFill>
                  <a:srgbClr val="1F4E9E"/>
                </a:solidFill>
                <a:latin typeface="Calibri" pitchFamily="34" charset="0"/>
                <a:ea typeface="Calibri" pitchFamily="34" charset="-122"/>
                <a:cs typeface="Calibri" pitchFamily="34" charset="-120"/>
              </a:rPr>
              <a:t>Module 2: Technician &amp; Admin Management</a:t>
            </a:r>
            <a:endParaRPr lang="en-US" sz="2800" dirty="0"/>
          </a:p>
        </p:txBody>
      </p:sp>
      <p:sp>
        <p:nvSpPr>
          <p:cNvPr id="5" name="Text 3"/>
          <p:cNvSpPr txBox="1"/>
          <p:nvPr/>
        </p:nvSpPr>
        <p:spPr>
          <a:xfrm>
            <a:off x="548640" y="1976512"/>
            <a:ext cx="6808763" cy="2778367"/>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rgbClr val="1A1A1A"/>
                </a:solidFill>
                <a:latin typeface="Calibri" pitchFamily="34" charset="0"/>
                <a:ea typeface="Calibri" pitchFamily="34" charset="-122"/>
                <a:cs typeface="Calibri" pitchFamily="34" charset="-120"/>
              </a:rPr>
              <a:t>Technicians can accept requests and update maintenance progress.</a:t>
            </a:r>
            <a:endParaRPr lang="en-US" sz="1700" dirty="0"/>
          </a:p>
          <a:p>
            <a:pPr marL="342900" indent="-342900">
              <a:spcAft>
                <a:spcPts val="1000"/>
              </a:spcAft>
              <a:buSzPct val="100000"/>
              <a:buChar char="•"/>
            </a:pPr>
            <a:r>
              <a:rPr lang="en-US" sz="1700" dirty="0">
                <a:solidFill>
                  <a:srgbClr val="1A1A1A"/>
                </a:solidFill>
                <a:latin typeface="Calibri" pitchFamily="34" charset="0"/>
                <a:ea typeface="Calibri" pitchFamily="34" charset="-122"/>
                <a:cs typeface="Calibri" pitchFamily="34" charset="-120"/>
              </a:rPr>
              <a:t>Status changes follow Submitted, Assigned, In Progress and Resolved stages.</a:t>
            </a:r>
            <a:endParaRPr lang="en-US" sz="1700" dirty="0"/>
          </a:p>
          <a:p>
            <a:pPr marL="342900" indent="-342900">
              <a:spcAft>
                <a:spcPts val="1000"/>
              </a:spcAft>
              <a:buSzPct val="100000"/>
              <a:buChar char="•"/>
            </a:pPr>
            <a:r>
              <a:rPr lang="en-US" sz="1700" dirty="0">
                <a:solidFill>
                  <a:srgbClr val="1A1A1A"/>
                </a:solidFill>
                <a:latin typeface="Calibri" pitchFamily="34" charset="0"/>
                <a:ea typeface="Calibri" pitchFamily="34" charset="-122"/>
                <a:cs typeface="Calibri" pitchFamily="34" charset="-120"/>
              </a:rPr>
              <a:t>Technicians can record inspection and resolution details.</a:t>
            </a:r>
            <a:endParaRPr lang="en-US" sz="1700" dirty="0"/>
          </a:p>
          <a:p>
            <a:pPr marL="342900" indent="-342900">
              <a:spcAft>
                <a:spcPts val="1000"/>
              </a:spcAft>
              <a:buSzPct val="100000"/>
              <a:buChar char="•"/>
            </a:pPr>
            <a:r>
              <a:rPr lang="en-US" sz="1700" dirty="0">
                <a:solidFill>
                  <a:srgbClr val="1A1A1A"/>
                </a:solidFill>
                <a:latin typeface="Calibri" pitchFamily="34" charset="0"/>
                <a:ea typeface="Calibri" pitchFamily="34" charset="-122"/>
                <a:cs typeface="Calibri" pitchFamily="34" charset="-120"/>
              </a:rPr>
              <a:t>Administrators can monitor overall maintenance statistics and activities.</a:t>
            </a:r>
            <a:endParaRPr lang="en-US" sz="1700" dirty="0"/>
          </a:p>
        </p:txBody>
      </p:sp>
      <p:pic>
        <p:nvPicPr>
          <p:cNvPr id="11" name="Picture 10">
            <a:extLst>
              <a:ext uri="{FF2B5EF4-FFF2-40B4-BE49-F238E27FC236}">
                <a16:creationId xmlns:a16="http://schemas.microsoft.com/office/drawing/2014/main" id="{54CA2F38-A545-4CA4-74D3-7037C10477F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82581" y="244307"/>
            <a:ext cx="7647019" cy="1020146"/>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37160" y="137160"/>
            <a:ext cx="8869680" cy="4869180"/>
          </a:xfrm>
          <a:prstGeom prst="rect">
            <a:avLst/>
          </a:prstGeom>
          <a:ln w="76200">
            <a:solidFill>
              <a:srgbClr val="1F4E9E"/>
            </a:solidFill>
            <a:prstDash val="solid"/>
          </a:ln>
        </p:spPr>
        <p:txBody>
          <a:bodyPr/>
          <a:lstStyle/>
          <a:p>
            <a:endParaRPr lang="en-IN"/>
          </a:p>
        </p:txBody>
      </p:sp>
      <p:sp>
        <p:nvSpPr>
          <p:cNvPr id="3" name="Text 1"/>
          <p:cNvSpPr txBox="1"/>
          <p:nvPr/>
        </p:nvSpPr>
        <p:spPr>
          <a:xfrm>
            <a:off x="3357553" y="2544613"/>
            <a:ext cx="5127674" cy="594360"/>
          </a:xfrm>
          <a:prstGeom prst="rect">
            <a:avLst/>
          </a:prstGeom>
          <a:noFill/>
          <a:ln/>
        </p:spPr>
        <p:txBody>
          <a:bodyPr wrap="square" lIns="0" tIns="0" rIns="0" bIns="0" rtlCol="0" anchor="ctr"/>
          <a:lstStyle/>
          <a:p>
            <a:pPr marL="0" indent="0">
              <a:buNone/>
            </a:pPr>
            <a:r>
              <a:rPr lang="en-US" sz="2800" b="1" dirty="0">
                <a:solidFill>
                  <a:srgbClr val="1F4E9E"/>
                </a:solidFill>
                <a:latin typeface="Calibri" pitchFamily="34" charset="0"/>
                <a:ea typeface="Calibri" pitchFamily="34" charset="-122"/>
                <a:cs typeface="Calibri" pitchFamily="34" charset="-120"/>
              </a:rPr>
              <a:t>Working Flow</a:t>
            </a:r>
            <a:endParaRPr lang="en-US" sz="2800" dirty="0"/>
          </a:p>
        </p:txBody>
      </p:sp>
      <p:sp>
        <p:nvSpPr>
          <p:cNvPr id="5" name="Shape 3"/>
          <p:cNvSpPr/>
          <p:nvPr/>
        </p:nvSpPr>
        <p:spPr>
          <a:xfrm>
            <a:off x="457200" y="1417320"/>
            <a:ext cx="1737360" cy="914400"/>
          </a:xfrm>
          <a:prstGeom prst="rect">
            <a:avLst/>
          </a:prstGeom>
          <a:solidFill>
            <a:srgbClr val="FFFFFF"/>
          </a:solidFill>
          <a:ln w="31750">
            <a:solidFill>
              <a:srgbClr val="1F4E9E"/>
            </a:solidFill>
            <a:prstDash val="solid"/>
          </a:ln>
        </p:spPr>
        <p:txBody>
          <a:bodyPr/>
          <a:lstStyle/>
          <a:p>
            <a:endParaRPr lang="en-IN"/>
          </a:p>
        </p:txBody>
      </p:sp>
      <p:sp>
        <p:nvSpPr>
          <p:cNvPr id="6" name="Text 4"/>
          <p:cNvSpPr txBox="1"/>
          <p:nvPr/>
        </p:nvSpPr>
        <p:spPr>
          <a:xfrm>
            <a:off x="457200" y="1417320"/>
            <a:ext cx="1737360" cy="914400"/>
          </a:xfrm>
          <a:prstGeom prst="rect">
            <a:avLst/>
          </a:prstGeom>
          <a:noFill/>
          <a:ln/>
        </p:spPr>
        <p:txBody>
          <a:bodyPr wrap="square" lIns="50800" tIns="50800" rIns="50800" bIns="50800" rtlCol="0" anchor="ctr"/>
          <a:lstStyle/>
          <a:p>
            <a:pPr marL="0" indent="0" algn="ctr">
              <a:buNone/>
            </a:pPr>
            <a:r>
              <a:rPr lang="en-US" sz="1500" b="1" dirty="0">
                <a:solidFill>
                  <a:srgbClr val="1A1A1A"/>
                </a:solidFill>
                <a:latin typeface="Calibri" pitchFamily="34" charset="0"/>
                <a:ea typeface="Calibri" pitchFamily="34" charset="-122"/>
                <a:cs typeface="Calibri" pitchFamily="34" charset="-120"/>
              </a:rPr>
              <a:t>Student Login</a:t>
            </a:r>
            <a:endParaRPr lang="en-US" sz="1500" dirty="0"/>
          </a:p>
        </p:txBody>
      </p:sp>
      <p:sp>
        <p:nvSpPr>
          <p:cNvPr id="7" name="Shape 5"/>
          <p:cNvSpPr/>
          <p:nvPr/>
        </p:nvSpPr>
        <p:spPr>
          <a:xfrm>
            <a:off x="2194560" y="1874520"/>
            <a:ext cx="411480" cy="0"/>
          </a:xfrm>
          <a:prstGeom prst="line">
            <a:avLst/>
          </a:prstGeom>
          <a:noFill/>
          <a:ln w="31750">
            <a:solidFill>
              <a:srgbClr val="1F4E9E"/>
            </a:solidFill>
            <a:prstDash val="solid"/>
            <a:tailEnd type="triangle"/>
          </a:ln>
        </p:spPr>
        <p:txBody>
          <a:bodyPr/>
          <a:lstStyle/>
          <a:p>
            <a:endParaRPr lang="en-IN"/>
          </a:p>
        </p:txBody>
      </p:sp>
      <p:sp>
        <p:nvSpPr>
          <p:cNvPr id="8" name="Shape 6"/>
          <p:cNvSpPr/>
          <p:nvPr/>
        </p:nvSpPr>
        <p:spPr>
          <a:xfrm>
            <a:off x="2606040" y="1417320"/>
            <a:ext cx="1737360" cy="914400"/>
          </a:xfrm>
          <a:prstGeom prst="rect">
            <a:avLst/>
          </a:prstGeom>
          <a:solidFill>
            <a:srgbClr val="FFFFFF"/>
          </a:solidFill>
          <a:ln w="31750">
            <a:solidFill>
              <a:srgbClr val="1F4E9E"/>
            </a:solidFill>
            <a:prstDash val="solid"/>
          </a:ln>
        </p:spPr>
        <p:txBody>
          <a:bodyPr/>
          <a:lstStyle/>
          <a:p>
            <a:endParaRPr lang="en-IN"/>
          </a:p>
        </p:txBody>
      </p:sp>
      <p:sp>
        <p:nvSpPr>
          <p:cNvPr id="9" name="Text 7"/>
          <p:cNvSpPr txBox="1"/>
          <p:nvPr/>
        </p:nvSpPr>
        <p:spPr>
          <a:xfrm>
            <a:off x="2606040" y="1417320"/>
            <a:ext cx="1737360" cy="914400"/>
          </a:xfrm>
          <a:prstGeom prst="rect">
            <a:avLst/>
          </a:prstGeom>
          <a:noFill/>
          <a:ln/>
        </p:spPr>
        <p:txBody>
          <a:bodyPr wrap="square" lIns="50800" tIns="50800" rIns="50800" bIns="50800" rtlCol="0" anchor="ctr"/>
          <a:lstStyle/>
          <a:p>
            <a:pPr marL="0" indent="0" algn="ctr">
              <a:buNone/>
            </a:pPr>
            <a:r>
              <a:rPr lang="en-US" sz="1500" b="1" dirty="0">
                <a:solidFill>
                  <a:srgbClr val="1A1A1A"/>
                </a:solidFill>
                <a:latin typeface="Calibri" pitchFamily="34" charset="0"/>
                <a:ea typeface="Calibri" pitchFamily="34" charset="-122"/>
                <a:cs typeface="Calibri" pitchFamily="34" charset="-120"/>
              </a:rPr>
              <a:t>Submit Maintenance Request</a:t>
            </a:r>
            <a:endParaRPr lang="en-US" sz="1500" dirty="0"/>
          </a:p>
        </p:txBody>
      </p:sp>
      <p:sp>
        <p:nvSpPr>
          <p:cNvPr id="10" name="Shape 8"/>
          <p:cNvSpPr/>
          <p:nvPr/>
        </p:nvSpPr>
        <p:spPr>
          <a:xfrm>
            <a:off x="4343400" y="1874520"/>
            <a:ext cx="411480" cy="0"/>
          </a:xfrm>
          <a:prstGeom prst="line">
            <a:avLst/>
          </a:prstGeom>
          <a:noFill/>
          <a:ln w="31750">
            <a:solidFill>
              <a:srgbClr val="1F4E9E"/>
            </a:solidFill>
            <a:prstDash val="solid"/>
            <a:tailEnd type="triangle"/>
          </a:ln>
        </p:spPr>
        <p:txBody>
          <a:bodyPr/>
          <a:lstStyle/>
          <a:p>
            <a:endParaRPr lang="en-IN"/>
          </a:p>
        </p:txBody>
      </p:sp>
      <p:sp>
        <p:nvSpPr>
          <p:cNvPr id="11" name="Shape 9"/>
          <p:cNvSpPr/>
          <p:nvPr/>
        </p:nvSpPr>
        <p:spPr>
          <a:xfrm>
            <a:off x="4754880" y="1417320"/>
            <a:ext cx="1737360" cy="914400"/>
          </a:xfrm>
          <a:prstGeom prst="rect">
            <a:avLst/>
          </a:prstGeom>
          <a:solidFill>
            <a:srgbClr val="FFFFFF"/>
          </a:solidFill>
          <a:ln w="31750">
            <a:solidFill>
              <a:srgbClr val="1F4E9E"/>
            </a:solidFill>
            <a:prstDash val="solid"/>
          </a:ln>
        </p:spPr>
        <p:txBody>
          <a:bodyPr/>
          <a:lstStyle/>
          <a:p>
            <a:endParaRPr lang="en-IN"/>
          </a:p>
        </p:txBody>
      </p:sp>
      <p:sp>
        <p:nvSpPr>
          <p:cNvPr id="12" name="Text 10"/>
          <p:cNvSpPr txBox="1"/>
          <p:nvPr/>
        </p:nvSpPr>
        <p:spPr>
          <a:xfrm>
            <a:off x="4754880" y="1417320"/>
            <a:ext cx="1737360" cy="914400"/>
          </a:xfrm>
          <a:prstGeom prst="rect">
            <a:avLst/>
          </a:prstGeom>
          <a:noFill/>
          <a:ln/>
        </p:spPr>
        <p:txBody>
          <a:bodyPr wrap="square" lIns="50800" tIns="50800" rIns="50800" bIns="50800" rtlCol="0" anchor="ctr"/>
          <a:lstStyle/>
          <a:p>
            <a:pPr marL="0" indent="0" algn="ctr">
              <a:buNone/>
            </a:pPr>
            <a:r>
              <a:rPr lang="en-US" sz="1500" b="1" dirty="0">
                <a:solidFill>
                  <a:srgbClr val="1A1A1A"/>
                </a:solidFill>
                <a:latin typeface="Calibri" pitchFamily="34" charset="0"/>
                <a:ea typeface="Calibri" pitchFamily="34" charset="-122"/>
                <a:cs typeface="Calibri" pitchFamily="34" charset="-120"/>
              </a:rPr>
              <a:t>Priority Score Calculation</a:t>
            </a:r>
            <a:endParaRPr lang="en-US" sz="1500" dirty="0"/>
          </a:p>
        </p:txBody>
      </p:sp>
      <p:sp>
        <p:nvSpPr>
          <p:cNvPr id="13" name="Shape 11"/>
          <p:cNvSpPr/>
          <p:nvPr/>
        </p:nvSpPr>
        <p:spPr>
          <a:xfrm>
            <a:off x="6492240" y="1874520"/>
            <a:ext cx="411480" cy="0"/>
          </a:xfrm>
          <a:prstGeom prst="line">
            <a:avLst/>
          </a:prstGeom>
          <a:noFill/>
          <a:ln w="31750">
            <a:solidFill>
              <a:srgbClr val="1F4E9E"/>
            </a:solidFill>
            <a:prstDash val="solid"/>
            <a:tailEnd type="triangle"/>
          </a:ln>
        </p:spPr>
        <p:txBody>
          <a:bodyPr/>
          <a:lstStyle/>
          <a:p>
            <a:endParaRPr lang="en-IN"/>
          </a:p>
        </p:txBody>
      </p:sp>
      <p:sp>
        <p:nvSpPr>
          <p:cNvPr id="14" name="Shape 12"/>
          <p:cNvSpPr/>
          <p:nvPr/>
        </p:nvSpPr>
        <p:spPr>
          <a:xfrm>
            <a:off x="6903720" y="1417320"/>
            <a:ext cx="1737360" cy="914400"/>
          </a:xfrm>
          <a:prstGeom prst="rect">
            <a:avLst/>
          </a:prstGeom>
          <a:solidFill>
            <a:srgbClr val="FFFFFF"/>
          </a:solidFill>
          <a:ln w="31750">
            <a:solidFill>
              <a:srgbClr val="1F4E9E"/>
            </a:solidFill>
            <a:prstDash val="solid"/>
          </a:ln>
        </p:spPr>
        <p:txBody>
          <a:bodyPr/>
          <a:lstStyle/>
          <a:p>
            <a:endParaRPr lang="en-IN"/>
          </a:p>
        </p:txBody>
      </p:sp>
      <p:sp>
        <p:nvSpPr>
          <p:cNvPr id="15" name="Text 13"/>
          <p:cNvSpPr txBox="1"/>
          <p:nvPr/>
        </p:nvSpPr>
        <p:spPr>
          <a:xfrm>
            <a:off x="6903720" y="1417320"/>
            <a:ext cx="1737360" cy="914400"/>
          </a:xfrm>
          <a:prstGeom prst="rect">
            <a:avLst/>
          </a:prstGeom>
          <a:noFill/>
          <a:ln/>
        </p:spPr>
        <p:txBody>
          <a:bodyPr wrap="square" lIns="50800" tIns="50800" rIns="50800" bIns="50800" rtlCol="0" anchor="ctr"/>
          <a:lstStyle/>
          <a:p>
            <a:pPr marL="0" indent="0" algn="ctr">
              <a:buNone/>
            </a:pPr>
            <a:r>
              <a:rPr lang="en-US" sz="1500" b="1" dirty="0">
                <a:solidFill>
                  <a:srgbClr val="1A1A1A"/>
                </a:solidFill>
                <a:latin typeface="Calibri" pitchFamily="34" charset="0"/>
                <a:ea typeface="Calibri" pitchFamily="34" charset="-122"/>
                <a:cs typeface="Calibri" pitchFamily="34" charset="-120"/>
              </a:rPr>
              <a:t>Technician Assignment</a:t>
            </a:r>
            <a:endParaRPr lang="en-US" sz="1500" dirty="0"/>
          </a:p>
        </p:txBody>
      </p:sp>
      <p:sp>
        <p:nvSpPr>
          <p:cNvPr id="16" name="Shape 14"/>
          <p:cNvSpPr/>
          <p:nvPr/>
        </p:nvSpPr>
        <p:spPr>
          <a:xfrm>
            <a:off x="7772400" y="2331720"/>
            <a:ext cx="0" cy="1051560"/>
          </a:xfrm>
          <a:prstGeom prst="line">
            <a:avLst/>
          </a:prstGeom>
          <a:noFill/>
          <a:ln w="31750">
            <a:solidFill>
              <a:srgbClr val="1F4E9E"/>
            </a:solidFill>
            <a:prstDash val="solid"/>
            <a:tailEnd type="triangle"/>
          </a:ln>
        </p:spPr>
        <p:txBody>
          <a:bodyPr/>
          <a:lstStyle/>
          <a:p>
            <a:endParaRPr lang="en-IN"/>
          </a:p>
        </p:txBody>
      </p:sp>
      <p:sp>
        <p:nvSpPr>
          <p:cNvPr id="17" name="Shape 15"/>
          <p:cNvSpPr/>
          <p:nvPr/>
        </p:nvSpPr>
        <p:spPr>
          <a:xfrm>
            <a:off x="6903720" y="3383280"/>
            <a:ext cx="1737360" cy="914400"/>
          </a:xfrm>
          <a:prstGeom prst="rect">
            <a:avLst/>
          </a:prstGeom>
          <a:solidFill>
            <a:srgbClr val="FFFFFF"/>
          </a:solidFill>
          <a:ln w="31750">
            <a:solidFill>
              <a:srgbClr val="1F4E9E"/>
            </a:solidFill>
            <a:prstDash val="solid"/>
          </a:ln>
        </p:spPr>
        <p:txBody>
          <a:bodyPr/>
          <a:lstStyle/>
          <a:p>
            <a:endParaRPr lang="en-IN"/>
          </a:p>
        </p:txBody>
      </p:sp>
      <p:sp>
        <p:nvSpPr>
          <p:cNvPr id="18" name="Text 16"/>
          <p:cNvSpPr txBox="1"/>
          <p:nvPr/>
        </p:nvSpPr>
        <p:spPr>
          <a:xfrm>
            <a:off x="6903720" y="3383280"/>
            <a:ext cx="1737360" cy="914400"/>
          </a:xfrm>
          <a:prstGeom prst="rect">
            <a:avLst/>
          </a:prstGeom>
          <a:noFill/>
          <a:ln/>
        </p:spPr>
        <p:txBody>
          <a:bodyPr wrap="square" lIns="50800" tIns="50800" rIns="50800" bIns="50800" rtlCol="0" anchor="ctr"/>
          <a:lstStyle/>
          <a:p>
            <a:pPr marL="0" indent="0" algn="ctr">
              <a:buNone/>
            </a:pPr>
            <a:r>
              <a:rPr lang="en-US" sz="1500" b="1" dirty="0">
                <a:solidFill>
                  <a:srgbClr val="1A1A1A"/>
                </a:solidFill>
                <a:latin typeface="Calibri" pitchFamily="34" charset="0"/>
                <a:ea typeface="Calibri" pitchFamily="34" charset="-122"/>
                <a:cs typeface="Calibri" pitchFamily="34" charset="-120"/>
              </a:rPr>
              <a:t>Work In Progress</a:t>
            </a:r>
            <a:endParaRPr lang="en-US" sz="1500" dirty="0"/>
          </a:p>
        </p:txBody>
      </p:sp>
      <p:sp>
        <p:nvSpPr>
          <p:cNvPr id="19" name="Shape 17"/>
          <p:cNvSpPr/>
          <p:nvPr/>
        </p:nvSpPr>
        <p:spPr>
          <a:xfrm flipH="1">
            <a:off x="6492240" y="3840480"/>
            <a:ext cx="411480" cy="0"/>
          </a:xfrm>
          <a:prstGeom prst="line">
            <a:avLst/>
          </a:prstGeom>
          <a:noFill/>
          <a:ln w="31750">
            <a:solidFill>
              <a:srgbClr val="1F4E9E"/>
            </a:solidFill>
            <a:prstDash val="solid"/>
            <a:tailEnd type="triangle"/>
          </a:ln>
        </p:spPr>
        <p:txBody>
          <a:bodyPr/>
          <a:lstStyle/>
          <a:p>
            <a:endParaRPr lang="en-IN"/>
          </a:p>
        </p:txBody>
      </p:sp>
      <p:sp>
        <p:nvSpPr>
          <p:cNvPr id="20" name="Shape 18"/>
          <p:cNvSpPr/>
          <p:nvPr/>
        </p:nvSpPr>
        <p:spPr>
          <a:xfrm>
            <a:off x="4754880" y="3383280"/>
            <a:ext cx="1737360" cy="914400"/>
          </a:xfrm>
          <a:prstGeom prst="rect">
            <a:avLst/>
          </a:prstGeom>
          <a:solidFill>
            <a:srgbClr val="FFFFFF"/>
          </a:solidFill>
          <a:ln w="31750">
            <a:solidFill>
              <a:srgbClr val="1F4E9E"/>
            </a:solidFill>
            <a:prstDash val="solid"/>
          </a:ln>
        </p:spPr>
        <p:txBody>
          <a:bodyPr/>
          <a:lstStyle/>
          <a:p>
            <a:endParaRPr lang="en-IN"/>
          </a:p>
        </p:txBody>
      </p:sp>
      <p:sp>
        <p:nvSpPr>
          <p:cNvPr id="21" name="Text 19"/>
          <p:cNvSpPr txBox="1"/>
          <p:nvPr/>
        </p:nvSpPr>
        <p:spPr>
          <a:xfrm>
            <a:off x="4754880" y="3383280"/>
            <a:ext cx="1737360" cy="914400"/>
          </a:xfrm>
          <a:prstGeom prst="rect">
            <a:avLst/>
          </a:prstGeom>
          <a:noFill/>
          <a:ln/>
        </p:spPr>
        <p:txBody>
          <a:bodyPr wrap="square" lIns="50800" tIns="50800" rIns="50800" bIns="50800" rtlCol="0" anchor="ctr"/>
          <a:lstStyle/>
          <a:p>
            <a:pPr marL="0" indent="0" algn="ctr">
              <a:buNone/>
            </a:pPr>
            <a:r>
              <a:rPr lang="en-US" sz="1500" b="1" dirty="0">
                <a:solidFill>
                  <a:srgbClr val="1A1A1A"/>
                </a:solidFill>
                <a:latin typeface="Calibri" pitchFamily="34" charset="0"/>
                <a:ea typeface="Calibri" pitchFamily="34" charset="-122"/>
                <a:cs typeface="Calibri" pitchFamily="34" charset="-120"/>
              </a:rPr>
              <a:t>Issue Resolved</a:t>
            </a:r>
            <a:endParaRPr lang="en-US" sz="1500" dirty="0"/>
          </a:p>
        </p:txBody>
      </p:sp>
      <p:sp>
        <p:nvSpPr>
          <p:cNvPr id="22" name="Shape 20"/>
          <p:cNvSpPr/>
          <p:nvPr/>
        </p:nvSpPr>
        <p:spPr>
          <a:xfrm flipH="1">
            <a:off x="4343400" y="3840480"/>
            <a:ext cx="411480" cy="0"/>
          </a:xfrm>
          <a:prstGeom prst="line">
            <a:avLst/>
          </a:prstGeom>
          <a:noFill/>
          <a:ln w="31750">
            <a:solidFill>
              <a:srgbClr val="1F4E9E"/>
            </a:solidFill>
            <a:prstDash val="solid"/>
            <a:tailEnd type="triangle"/>
          </a:ln>
        </p:spPr>
        <p:txBody>
          <a:bodyPr/>
          <a:lstStyle/>
          <a:p>
            <a:endParaRPr lang="en-IN"/>
          </a:p>
        </p:txBody>
      </p:sp>
      <p:sp>
        <p:nvSpPr>
          <p:cNvPr id="23" name="Shape 21"/>
          <p:cNvSpPr/>
          <p:nvPr/>
        </p:nvSpPr>
        <p:spPr>
          <a:xfrm>
            <a:off x="2606040" y="3383280"/>
            <a:ext cx="1737360" cy="914400"/>
          </a:xfrm>
          <a:prstGeom prst="rect">
            <a:avLst/>
          </a:prstGeom>
          <a:solidFill>
            <a:srgbClr val="FFFFFF"/>
          </a:solidFill>
          <a:ln w="31750">
            <a:solidFill>
              <a:srgbClr val="1F4E9E"/>
            </a:solidFill>
            <a:prstDash val="solid"/>
          </a:ln>
        </p:spPr>
        <p:txBody>
          <a:bodyPr/>
          <a:lstStyle/>
          <a:p>
            <a:endParaRPr lang="en-IN"/>
          </a:p>
        </p:txBody>
      </p:sp>
      <p:sp>
        <p:nvSpPr>
          <p:cNvPr id="24" name="Text 22"/>
          <p:cNvSpPr txBox="1"/>
          <p:nvPr/>
        </p:nvSpPr>
        <p:spPr>
          <a:xfrm>
            <a:off x="2606040" y="3383280"/>
            <a:ext cx="1737360" cy="914400"/>
          </a:xfrm>
          <a:prstGeom prst="rect">
            <a:avLst/>
          </a:prstGeom>
          <a:noFill/>
          <a:ln/>
        </p:spPr>
        <p:txBody>
          <a:bodyPr wrap="square" lIns="50800" tIns="50800" rIns="50800" bIns="50800" rtlCol="0" anchor="ctr"/>
          <a:lstStyle/>
          <a:p>
            <a:pPr marL="0" indent="0" algn="ctr">
              <a:buNone/>
            </a:pPr>
            <a:r>
              <a:rPr lang="en-US" sz="1500" b="1" dirty="0">
                <a:solidFill>
                  <a:srgbClr val="1A1A1A"/>
                </a:solidFill>
                <a:latin typeface="Calibri" pitchFamily="34" charset="0"/>
                <a:ea typeface="Calibri" pitchFamily="34" charset="-122"/>
                <a:cs typeface="Calibri" pitchFamily="34" charset="-120"/>
              </a:rPr>
              <a:t>Student Verification</a:t>
            </a:r>
            <a:endParaRPr lang="en-US" sz="1500" dirty="0"/>
          </a:p>
        </p:txBody>
      </p:sp>
      <p:sp>
        <p:nvSpPr>
          <p:cNvPr id="25" name="Shape 23"/>
          <p:cNvSpPr/>
          <p:nvPr/>
        </p:nvSpPr>
        <p:spPr>
          <a:xfrm flipH="1">
            <a:off x="2194560" y="3840480"/>
            <a:ext cx="411480" cy="0"/>
          </a:xfrm>
          <a:prstGeom prst="line">
            <a:avLst/>
          </a:prstGeom>
          <a:noFill/>
          <a:ln w="31750">
            <a:solidFill>
              <a:srgbClr val="1F4E9E"/>
            </a:solidFill>
            <a:prstDash val="solid"/>
            <a:tailEnd type="triangle"/>
          </a:ln>
        </p:spPr>
        <p:txBody>
          <a:bodyPr/>
          <a:lstStyle/>
          <a:p>
            <a:endParaRPr lang="en-IN"/>
          </a:p>
        </p:txBody>
      </p:sp>
      <p:sp>
        <p:nvSpPr>
          <p:cNvPr id="26" name="Shape 24"/>
          <p:cNvSpPr/>
          <p:nvPr/>
        </p:nvSpPr>
        <p:spPr>
          <a:xfrm>
            <a:off x="457200" y="3383280"/>
            <a:ext cx="1737360" cy="914400"/>
          </a:xfrm>
          <a:prstGeom prst="rect">
            <a:avLst/>
          </a:prstGeom>
          <a:solidFill>
            <a:srgbClr val="FFFFFF"/>
          </a:solidFill>
          <a:ln w="31750">
            <a:solidFill>
              <a:srgbClr val="1F4E9E"/>
            </a:solidFill>
            <a:prstDash val="solid"/>
          </a:ln>
        </p:spPr>
        <p:txBody>
          <a:bodyPr/>
          <a:lstStyle/>
          <a:p>
            <a:endParaRPr lang="en-IN"/>
          </a:p>
        </p:txBody>
      </p:sp>
      <p:sp>
        <p:nvSpPr>
          <p:cNvPr id="27" name="Text 25"/>
          <p:cNvSpPr txBox="1"/>
          <p:nvPr/>
        </p:nvSpPr>
        <p:spPr>
          <a:xfrm>
            <a:off x="457200" y="3383280"/>
            <a:ext cx="1737360" cy="914400"/>
          </a:xfrm>
          <a:prstGeom prst="rect">
            <a:avLst/>
          </a:prstGeom>
          <a:noFill/>
          <a:ln/>
        </p:spPr>
        <p:txBody>
          <a:bodyPr wrap="square" lIns="50800" tIns="50800" rIns="50800" bIns="50800" rtlCol="0" anchor="ctr"/>
          <a:lstStyle/>
          <a:p>
            <a:pPr marL="0" indent="0" algn="ctr">
              <a:buNone/>
            </a:pPr>
            <a:r>
              <a:rPr lang="en-US" sz="1500" b="1" dirty="0">
                <a:solidFill>
                  <a:srgbClr val="1A1A1A"/>
                </a:solidFill>
                <a:latin typeface="Calibri" pitchFamily="34" charset="0"/>
                <a:ea typeface="Calibri" pitchFamily="34" charset="-122"/>
                <a:cs typeface="Calibri" pitchFamily="34" charset="-120"/>
              </a:rPr>
              <a:t>Admin Monitoring</a:t>
            </a:r>
            <a:endParaRPr lang="en-US" sz="1500" dirty="0"/>
          </a:p>
        </p:txBody>
      </p:sp>
      <p:pic>
        <p:nvPicPr>
          <p:cNvPr id="29" name="Picture 28">
            <a:extLst>
              <a:ext uri="{FF2B5EF4-FFF2-40B4-BE49-F238E27FC236}">
                <a16:creationId xmlns:a16="http://schemas.microsoft.com/office/drawing/2014/main" id="{C3C7AA97-CCE8-5775-D672-D9A635E4983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82581" y="244307"/>
            <a:ext cx="7647019" cy="1020146"/>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37160" y="137160"/>
            <a:ext cx="8869680" cy="4869180"/>
          </a:xfrm>
          <a:prstGeom prst="rect">
            <a:avLst/>
          </a:prstGeom>
          <a:ln w="76200">
            <a:solidFill>
              <a:srgbClr val="1F4E9E"/>
            </a:solidFill>
            <a:prstDash val="solid"/>
          </a:ln>
        </p:spPr>
        <p:txBody>
          <a:bodyPr/>
          <a:lstStyle/>
          <a:p>
            <a:endParaRPr lang="en-IN"/>
          </a:p>
        </p:txBody>
      </p:sp>
      <p:sp>
        <p:nvSpPr>
          <p:cNvPr id="3" name="Text 1"/>
          <p:cNvSpPr txBox="1"/>
          <p:nvPr/>
        </p:nvSpPr>
        <p:spPr>
          <a:xfrm>
            <a:off x="457200" y="1445456"/>
            <a:ext cx="8229600" cy="594360"/>
          </a:xfrm>
          <a:prstGeom prst="rect">
            <a:avLst/>
          </a:prstGeom>
          <a:noFill/>
          <a:ln/>
        </p:spPr>
        <p:txBody>
          <a:bodyPr wrap="square" lIns="0" tIns="0" rIns="0" bIns="0" rtlCol="0" anchor="ctr"/>
          <a:lstStyle/>
          <a:p>
            <a:pPr marL="0" indent="0">
              <a:buNone/>
            </a:pPr>
            <a:r>
              <a:rPr lang="en-US" sz="2800" b="1" dirty="0">
                <a:solidFill>
                  <a:srgbClr val="1F4E9E"/>
                </a:solidFill>
                <a:latin typeface="Calibri" pitchFamily="34" charset="0"/>
                <a:ea typeface="Calibri" pitchFamily="34" charset="-122"/>
                <a:cs typeface="Calibri" pitchFamily="34" charset="-120"/>
              </a:rPr>
              <a:t>Tools Used</a:t>
            </a:r>
            <a:endParaRPr lang="en-US" sz="2800" dirty="0"/>
          </a:p>
        </p:txBody>
      </p:sp>
      <p:sp>
        <p:nvSpPr>
          <p:cNvPr id="5" name="Text 3"/>
          <p:cNvSpPr txBox="1"/>
          <p:nvPr/>
        </p:nvSpPr>
        <p:spPr>
          <a:xfrm>
            <a:off x="457200" y="2198078"/>
            <a:ext cx="8046720" cy="2300067"/>
          </a:xfrm>
          <a:prstGeom prst="rect">
            <a:avLst/>
          </a:prstGeom>
          <a:noFill/>
          <a:ln/>
        </p:spPr>
        <p:txBody>
          <a:bodyPr wrap="square" lIns="0" tIns="0" rIns="0" bIns="0" rtlCol="0" anchor="t"/>
          <a:lstStyle/>
          <a:p>
            <a:pPr marL="342900" indent="-342900">
              <a:spcAft>
                <a:spcPts val="900"/>
              </a:spcAft>
              <a:buSzPct val="100000"/>
              <a:buChar char="•"/>
            </a:pPr>
            <a:r>
              <a:rPr lang="en-US" sz="1800" b="1" dirty="0">
                <a:solidFill>
                  <a:srgbClr val="1F4E9E"/>
                </a:solidFill>
                <a:latin typeface="Calibri" pitchFamily="34" charset="0"/>
                <a:ea typeface="Calibri" pitchFamily="34" charset="-122"/>
                <a:cs typeface="Calibri" pitchFamily="34" charset="-120"/>
              </a:rPr>
              <a:t>HTML </a:t>
            </a:r>
            <a:r>
              <a:rPr lang="en-US" sz="1800" dirty="0">
                <a:solidFill>
                  <a:srgbClr val="1A1A1A"/>
                </a:solidFill>
                <a:latin typeface="Calibri" pitchFamily="34" charset="0"/>
                <a:ea typeface="Calibri" pitchFamily="34" charset="-122"/>
                <a:cs typeface="Calibri" pitchFamily="34" charset="-120"/>
              </a:rPr>
              <a:t>creates the structure and content of the website pages.</a:t>
            </a:r>
            <a:endParaRPr lang="en-US" sz="1800" dirty="0"/>
          </a:p>
          <a:p>
            <a:pPr marL="342900" indent="-342900">
              <a:spcAft>
                <a:spcPts val="900"/>
              </a:spcAft>
              <a:buSzPct val="100000"/>
              <a:buChar char="•"/>
            </a:pPr>
            <a:r>
              <a:rPr lang="en-US" sz="1800" b="1" dirty="0">
                <a:solidFill>
                  <a:srgbClr val="1F4E9E"/>
                </a:solidFill>
                <a:latin typeface="Calibri" pitchFamily="34" charset="0"/>
                <a:ea typeface="Calibri" pitchFamily="34" charset="-122"/>
                <a:cs typeface="Calibri" pitchFamily="34" charset="-120"/>
              </a:rPr>
              <a:t>CSS </a:t>
            </a:r>
            <a:r>
              <a:rPr lang="en-US" sz="1800" dirty="0">
                <a:solidFill>
                  <a:srgbClr val="1A1A1A"/>
                </a:solidFill>
                <a:latin typeface="Calibri" pitchFamily="34" charset="0"/>
                <a:ea typeface="Calibri" pitchFamily="34" charset="-122"/>
                <a:cs typeface="Calibri" pitchFamily="34" charset="-120"/>
              </a:rPr>
              <a:t>designs the layout, appearance and responsive interface.</a:t>
            </a:r>
            <a:endParaRPr lang="en-US" sz="1800" dirty="0"/>
          </a:p>
          <a:p>
            <a:pPr marL="342900" indent="-342900">
              <a:spcAft>
                <a:spcPts val="900"/>
              </a:spcAft>
              <a:buSzPct val="100000"/>
              <a:buChar char="•"/>
            </a:pPr>
            <a:r>
              <a:rPr lang="en-US" sz="1800" b="1" dirty="0">
                <a:solidFill>
                  <a:srgbClr val="1F4E9E"/>
                </a:solidFill>
                <a:latin typeface="Calibri" pitchFamily="34" charset="0"/>
                <a:ea typeface="Calibri" pitchFamily="34" charset="-122"/>
                <a:cs typeface="Calibri" pitchFamily="34" charset="-120"/>
              </a:rPr>
              <a:t>JavaScript </a:t>
            </a:r>
            <a:r>
              <a:rPr lang="en-US" sz="1800" dirty="0">
                <a:solidFill>
                  <a:srgbClr val="1A1A1A"/>
                </a:solidFill>
                <a:latin typeface="Calibri" pitchFamily="34" charset="0"/>
                <a:ea typeface="Calibri" pitchFamily="34" charset="-122"/>
                <a:cs typeface="Calibri" pitchFamily="34" charset="-120"/>
              </a:rPr>
              <a:t>manages interactive elements and dynamic website behaviour.</a:t>
            </a:r>
            <a:endParaRPr lang="en-US" sz="1800" dirty="0"/>
          </a:p>
          <a:p>
            <a:pPr marL="342900" indent="-342900">
              <a:spcAft>
                <a:spcPts val="900"/>
              </a:spcAft>
              <a:buSzPct val="100000"/>
              <a:buChar char="•"/>
            </a:pPr>
            <a:r>
              <a:rPr lang="en-US" sz="1800" b="1" dirty="0">
                <a:solidFill>
                  <a:srgbClr val="1F4E9E"/>
                </a:solidFill>
                <a:latin typeface="Calibri" pitchFamily="34" charset="0"/>
                <a:ea typeface="Calibri" pitchFamily="34" charset="-122"/>
                <a:cs typeface="Calibri" pitchFamily="34" charset="-120"/>
              </a:rPr>
              <a:t>Python Flask </a:t>
            </a:r>
            <a:r>
              <a:rPr lang="en-US" sz="1800" dirty="0">
                <a:solidFill>
                  <a:srgbClr val="1A1A1A"/>
                </a:solidFill>
                <a:latin typeface="Calibri" pitchFamily="34" charset="0"/>
                <a:ea typeface="Calibri" pitchFamily="34" charset="-122"/>
                <a:cs typeface="Calibri" pitchFamily="34" charset="-120"/>
              </a:rPr>
              <a:t>handles backend operations, routing and maintenance workflows.</a:t>
            </a:r>
            <a:endParaRPr lang="en-US" sz="1800" dirty="0"/>
          </a:p>
          <a:p>
            <a:pPr marL="342900" indent="-342900">
              <a:spcAft>
                <a:spcPts val="900"/>
              </a:spcAft>
              <a:buSzPct val="100000"/>
              <a:buChar char="•"/>
            </a:pPr>
            <a:r>
              <a:rPr lang="en-US" sz="1800" b="1" dirty="0">
                <a:solidFill>
                  <a:srgbClr val="1F4E9E"/>
                </a:solidFill>
                <a:latin typeface="Calibri" pitchFamily="34" charset="0"/>
                <a:ea typeface="Calibri" pitchFamily="34" charset="-122"/>
                <a:cs typeface="Calibri" pitchFamily="34" charset="-120"/>
              </a:rPr>
              <a:t>SQLite </a:t>
            </a:r>
            <a:r>
              <a:rPr lang="en-US" sz="1800" dirty="0">
                <a:solidFill>
                  <a:srgbClr val="1A1A1A"/>
                </a:solidFill>
                <a:latin typeface="Calibri" pitchFamily="34" charset="0"/>
                <a:ea typeface="Calibri" pitchFamily="34" charset="-122"/>
                <a:cs typeface="Calibri" pitchFamily="34" charset="-120"/>
              </a:rPr>
              <a:t>stores users, requests, statuses, notes and activity records.</a:t>
            </a:r>
            <a:endParaRPr lang="en-US" sz="1800" dirty="0"/>
          </a:p>
          <a:p>
            <a:pPr marL="342900" indent="-342900">
              <a:spcAft>
                <a:spcPts val="900"/>
              </a:spcAft>
              <a:buSzPct val="100000"/>
              <a:buChar char="•"/>
            </a:pPr>
            <a:r>
              <a:rPr lang="en-US" sz="1800" b="1" dirty="0">
                <a:solidFill>
                  <a:srgbClr val="1F4E9E"/>
                </a:solidFill>
                <a:latin typeface="Calibri" pitchFamily="34" charset="0"/>
                <a:ea typeface="Calibri" pitchFamily="34" charset="-122"/>
                <a:cs typeface="Calibri" pitchFamily="34" charset="-120"/>
              </a:rPr>
              <a:t>VS Code </a:t>
            </a:r>
            <a:r>
              <a:rPr lang="en-US" sz="1800" dirty="0">
                <a:solidFill>
                  <a:srgbClr val="1A1A1A"/>
                </a:solidFill>
                <a:latin typeface="Calibri" pitchFamily="34" charset="0"/>
                <a:ea typeface="Calibri" pitchFamily="34" charset="-122"/>
                <a:cs typeface="Calibri" pitchFamily="34" charset="-120"/>
              </a:rPr>
              <a:t>supports website development, testing and project management.</a:t>
            </a:r>
            <a:endParaRPr lang="en-US" sz="1800" dirty="0"/>
          </a:p>
        </p:txBody>
      </p:sp>
      <p:pic>
        <p:nvPicPr>
          <p:cNvPr id="7" name="Picture 6">
            <a:extLst>
              <a:ext uri="{FF2B5EF4-FFF2-40B4-BE49-F238E27FC236}">
                <a16:creationId xmlns:a16="http://schemas.microsoft.com/office/drawing/2014/main" id="{C2B9F9B9-A873-E3E9-C4BB-A0A75CB3F8B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82581" y="244307"/>
            <a:ext cx="7647019" cy="1020146"/>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37160" y="137160"/>
            <a:ext cx="8869680" cy="4869180"/>
          </a:xfrm>
          <a:prstGeom prst="rect">
            <a:avLst/>
          </a:prstGeom>
          <a:ln w="76200">
            <a:solidFill>
              <a:srgbClr val="1F4E9E"/>
            </a:solidFill>
            <a:prstDash val="solid"/>
          </a:ln>
        </p:spPr>
        <p:txBody>
          <a:bodyPr/>
          <a:lstStyle/>
          <a:p>
            <a:endParaRPr lang="en-IN"/>
          </a:p>
        </p:txBody>
      </p:sp>
      <p:sp>
        <p:nvSpPr>
          <p:cNvPr id="3" name="Text 1"/>
          <p:cNvSpPr txBox="1"/>
          <p:nvPr/>
        </p:nvSpPr>
        <p:spPr>
          <a:xfrm>
            <a:off x="457200" y="1292589"/>
            <a:ext cx="8229600" cy="594360"/>
          </a:xfrm>
          <a:prstGeom prst="rect">
            <a:avLst/>
          </a:prstGeom>
          <a:noFill/>
          <a:ln/>
        </p:spPr>
        <p:txBody>
          <a:bodyPr wrap="square" lIns="0" tIns="0" rIns="0" bIns="0" rtlCol="0" anchor="ctr"/>
          <a:lstStyle/>
          <a:p>
            <a:pPr marL="0" indent="0">
              <a:buNone/>
            </a:pPr>
            <a:r>
              <a:rPr lang="en-US" sz="2800" b="1" dirty="0">
                <a:solidFill>
                  <a:srgbClr val="1F4E9E"/>
                </a:solidFill>
                <a:latin typeface="Calibri" pitchFamily="34" charset="0"/>
                <a:ea typeface="Calibri" pitchFamily="34" charset="-122"/>
                <a:cs typeface="Calibri" pitchFamily="34" charset="-120"/>
              </a:rPr>
              <a:t>Conclusion</a:t>
            </a:r>
            <a:endParaRPr lang="en-US" sz="2800" dirty="0"/>
          </a:p>
        </p:txBody>
      </p:sp>
      <p:sp>
        <p:nvSpPr>
          <p:cNvPr id="5" name="Text 3"/>
          <p:cNvSpPr txBox="1"/>
          <p:nvPr/>
        </p:nvSpPr>
        <p:spPr>
          <a:xfrm>
            <a:off x="548640" y="2222695"/>
            <a:ext cx="8046720" cy="2532184"/>
          </a:xfrm>
          <a:prstGeom prst="rect">
            <a:avLst/>
          </a:prstGeom>
          <a:noFill/>
          <a:ln/>
        </p:spPr>
        <p:txBody>
          <a:bodyPr wrap="square" lIns="0" tIns="0" rIns="0" bIns="0" rtlCol="0" anchor="t"/>
          <a:lstStyle/>
          <a:p>
            <a:pPr>
              <a:spcAft>
                <a:spcPts val="1100"/>
              </a:spcAft>
              <a:buSzPct val="100000"/>
            </a:pPr>
            <a:r>
              <a:rPr lang="en-IN" sz="2000" dirty="0"/>
              <a:t>CampusCare provides a centralized and efficient solution for managing campus maintenance activities. It connects students, technicians, and administrators through a single platform, enabling easy issue reporting, priority-based assignment, real-time status tracking, and resolution verification. By reducing scattered complaints and improving coordination, the system helps minimize delays and supports faster and more transparent maintenance management.</a:t>
            </a:r>
          </a:p>
          <a:p>
            <a:pPr>
              <a:spcAft>
                <a:spcPts val="1100"/>
              </a:spcAft>
              <a:buSzPct val="100000"/>
            </a:pPr>
            <a:endParaRPr lang="en-US" sz="1900" dirty="0"/>
          </a:p>
        </p:txBody>
      </p:sp>
      <p:pic>
        <p:nvPicPr>
          <p:cNvPr id="7" name="Picture 6">
            <a:extLst>
              <a:ext uri="{FF2B5EF4-FFF2-40B4-BE49-F238E27FC236}">
                <a16:creationId xmlns:a16="http://schemas.microsoft.com/office/drawing/2014/main" id="{EF0F6154-01C5-77CA-C93B-02F7DB22722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82581" y="244307"/>
            <a:ext cx="7647019" cy="1020146"/>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37160" y="137160"/>
            <a:ext cx="8869680" cy="4869180"/>
          </a:xfrm>
          <a:prstGeom prst="rect">
            <a:avLst/>
          </a:prstGeom>
          <a:ln w="76200">
            <a:solidFill>
              <a:srgbClr val="1F4E9E"/>
            </a:solidFill>
            <a:prstDash val="solid"/>
          </a:ln>
        </p:spPr>
        <p:txBody>
          <a:bodyPr/>
          <a:lstStyle/>
          <a:p>
            <a:endParaRPr lang="en-IN"/>
          </a:p>
        </p:txBody>
      </p:sp>
      <p:sp>
        <p:nvSpPr>
          <p:cNvPr id="3" name="Text 1"/>
          <p:cNvSpPr txBox="1"/>
          <p:nvPr/>
        </p:nvSpPr>
        <p:spPr>
          <a:xfrm>
            <a:off x="548640" y="1315328"/>
            <a:ext cx="8229600" cy="594360"/>
          </a:xfrm>
          <a:prstGeom prst="rect">
            <a:avLst/>
          </a:prstGeom>
          <a:noFill/>
          <a:ln/>
        </p:spPr>
        <p:txBody>
          <a:bodyPr wrap="square" lIns="0" tIns="0" rIns="0" bIns="0" rtlCol="0" anchor="ctr"/>
          <a:lstStyle/>
          <a:p>
            <a:pPr marL="0" indent="0">
              <a:buNone/>
            </a:pPr>
            <a:r>
              <a:rPr lang="en-US" sz="2800" b="1" dirty="0">
                <a:solidFill>
                  <a:srgbClr val="1F4E9E"/>
                </a:solidFill>
                <a:latin typeface="Calibri" pitchFamily="34" charset="0"/>
                <a:ea typeface="Calibri" pitchFamily="34" charset="-122"/>
                <a:cs typeface="Calibri" pitchFamily="34" charset="-120"/>
              </a:rPr>
              <a:t>References</a:t>
            </a:r>
            <a:endParaRPr lang="en-US" sz="2800" dirty="0"/>
          </a:p>
        </p:txBody>
      </p:sp>
      <p:sp>
        <p:nvSpPr>
          <p:cNvPr id="5" name="Text 3"/>
          <p:cNvSpPr txBox="1"/>
          <p:nvPr/>
        </p:nvSpPr>
        <p:spPr>
          <a:xfrm>
            <a:off x="548640" y="2005525"/>
            <a:ext cx="8046720" cy="1132449"/>
          </a:xfrm>
          <a:prstGeom prst="rect">
            <a:avLst/>
          </a:prstGeom>
          <a:noFill/>
          <a:ln/>
        </p:spPr>
        <p:txBody>
          <a:bodyPr wrap="square" lIns="0" tIns="0" rIns="0" bIns="0" rtlCol="0" anchor="t"/>
          <a:lstStyle/>
          <a:p>
            <a:pPr marL="0" indent="0">
              <a:spcAft>
                <a:spcPts val="300"/>
              </a:spcAft>
              <a:buNone/>
            </a:pPr>
            <a:r>
              <a:rPr lang="en-US" sz="1700" b="1" dirty="0">
                <a:solidFill>
                  <a:srgbClr val="1F4E9E"/>
                </a:solidFill>
                <a:latin typeface="Calibri" pitchFamily="34" charset="0"/>
                <a:ea typeface="Calibri" pitchFamily="34" charset="-122"/>
                <a:cs typeface="Calibri" pitchFamily="34" charset="-120"/>
              </a:rPr>
              <a:t>1. Pampana et al. (2024)</a:t>
            </a:r>
            <a:endParaRPr lang="en-US" sz="1700" dirty="0"/>
          </a:p>
          <a:p>
            <a:pPr marL="0" indent="0">
              <a:spcAft>
                <a:spcPts val="300"/>
              </a:spcAft>
              <a:buNone/>
            </a:pPr>
            <a:r>
              <a:rPr lang="en-US" sz="1700" i="1" dirty="0">
                <a:solidFill>
                  <a:srgbClr val="1A1A1A"/>
                </a:solidFill>
                <a:latin typeface="Calibri" pitchFamily="34" charset="0"/>
                <a:ea typeface="Calibri" pitchFamily="34" charset="-122"/>
                <a:cs typeface="Calibri" pitchFamily="34" charset="-120"/>
              </a:rPr>
              <a:t>Comprehensive Maintenance Dataset of Building Facilities for Planned Preventive and Unplanned Maintenance.</a:t>
            </a:r>
            <a:endParaRPr lang="en-US" sz="1700" dirty="0"/>
          </a:p>
          <a:p>
            <a:pPr marL="0" indent="0">
              <a:buNone/>
            </a:pPr>
            <a:r>
              <a:rPr lang="en-US" sz="1700" b="1" dirty="0">
                <a:solidFill>
                  <a:srgbClr val="1A1A1A"/>
                </a:solidFill>
                <a:latin typeface="Calibri" pitchFamily="34" charset="0"/>
                <a:ea typeface="Calibri" pitchFamily="34" charset="-122"/>
                <a:cs typeface="Calibri" pitchFamily="34" charset="-120"/>
              </a:rPr>
              <a:t>Data in Brief, 57, 110845.</a:t>
            </a:r>
            <a:endParaRPr lang="en-US" sz="1700" dirty="0"/>
          </a:p>
        </p:txBody>
      </p:sp>
      <p:sp>
        <p:nvSpPr>
          <p:cNvPr id="6" name="Text 4"/>
          <p:cNvSpPr txBox="1"/>
          <p:nvPr/>
        </p:nvSpPr>
        <p:spPr>
          <a:xfrm>
            <a:off x="548640" y="3247878"/>
            <a:ext cx="8046720" cy="1132449"/>
          </a:xfrm>
          <a:prstGeom prst="rect">
            <a:avLst/>
          </a:prstGeom>
          <a:noFill/>
          <a:ln/>
        </p:spPr>
        <p:txBody>
          <a:bodyPr wrap="square" lIns="0" tIns="0" rIns="0" bIns="0" rtlCol="0" anchor="t"/>
          <a:lstStyle/>
          <a:p>
            <a:pPr marL="0" indent="0">
              <a:spcAft>
                <a:spcPts val="300"/>
              </a:spcAft>
              <a:buNone/>
            </a:pPr>
            <a:r>
              <a:rPr lang="en-US" sz="1700" b="1" dirty="0">
                <a:solidFill>
                  <a:srgbClr val="1F4E9E"/>
                </a:solidFill>
                <a:latin typeface="Calibri" pitchFamily="34" charset="0"/>
                <a:ea typeface="Calibri" pitchFamily="34" charset="-122"/>
                <a:cs typeface="Calibri" pitchFamily="34" charset="-120"/>
              </a:rPr>
              <a:t>2. Work Order Assignment Optimization (2026)</a:t>
            </a:r>
            <a:endParaRPr lang="en-US" sz="1700" dirty="0"/>
          </a:p>
          <a:p>
            <a:pPr marL="0" indent="0">
              <a:spcAft>
                <a:spcPts val="300"/>
              </a:spcAft>
              <a:buNone/>
            </a:pPr>
            <a:r>
              <a:rPr lang="en-US" sz="1700" i="1" dirty="0">
                <a:solidFill>
                  <a:srgbClr val="1A1A1A"/>
                </a:solidFill>
                <a:latin typeface="Calibri" pitchFamily="34" charset="0"/>
                <a:ea typeface="Calibri" pitchFamily="34" charset="-122"/>
                <a:cs typeface="Calibri" pitchFamily="34" charset="-120"/>
              </a:rPr>
              <a:t>Maintenance Work Order Assignment Optimization Using Operation and Maintenance Data.</a:t>
            </a:r>
            <a:endParaRPr lang="en-US" sz="1700" dirty="0"/>
          </a:p>
          <a:p>
            <a:pPr marL="0" indent="0">
              <a:buNone/>
            </a:pPr>
            <a:r>
              <a:rPr lang="en-US" sz="1700" b="1" dirty="0">
                <a:solidFill>
                  <a:srgbClr val="1A1A1A"/>
                </a:solidFill>
                <a:latin typeface="Calibri" pitchFamily="34" charset="0"/>
                <a:ea typeface="Calibri" pitchFamily="34" charset="-122"/>
                <a:cs typeface="Calibri" pitchFamily="34" charset="-120"/>
              </a:rPr>
              <a:t>Georgia Tech Campus Case Studies.</a:t>
            </a:r>
            <a:endParaRPr lang="en-US" sz="1700" dirty="0"/>
          </a:p>
        </p:txBody>
      </p:sp>
      <p:pic>
        <p:nvPicPr>
          <p:cNvPr id="8" name="Picture 7">
            <a:extLst>
              <a:ext uri="{FF2B5EF4-FFF2-40B4-BE49-F238E27FC236}">
                <a16:creationId xmlns:a16="http://schemas.microsoft.com/office/drawing/2014/main" id="{EE7CBCD8-93E7-319F-5E1E-145B4D76393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82581" y="244307"/>
            <a:ext cx="7647019" cy="1020146"/>
          </a:xfrm>
          <a:prstGeom prst="rect">
            <a:avLst/>
          </a:prstGeom>
          <a:noFill/>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88</TotalTime>
  <Words>568</Words>
  <Application>Microsoft Office PowerPoint</Application>
  <PresentationFormat>On-screen Show (16:9)</PresentationFormat>
  <Paragraphs>67</Paragraphs>
  <Slides>13</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CampusCare</dc:title>
  <dc:subject>PptxGenJS Presentation</dc:subject>
  <dc:creator>Suriya Priya K</dc:creator>
  <cp:lastModifiedBy>suriyapriya2208@gmail.com</cp:lastModifiedBy>
  <cp:revision>5</cp:revision>
  <dcterms:created xsi:type="dcterms:W3CDTF">2026-10-29T13:22:08Z</dcterms:created>
  <dcterms:modified xsi:type="dcterms:W3CDTF">2026-10-30T08:09:49Z</dcterms:modified>
</cp:coreProperties>
</file>